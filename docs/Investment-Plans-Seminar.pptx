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59e9800-49cd-9d60-c6c8-86a1924f90fc}">
          <p14:sldIdLst>
            <p14:sldId id="256"/>
            <p14:sldId id="257"/>
          </p14:sldIdLst>
        </p14:section>
        <p14:section name="Plans" id="{aa02689b-d4d5-ff3a-0c44-5c6b193b262e}">
          <p14:sldIdLst>
            <p14:sldId id="258"/>
            <p14:sldId id="259"/>
            <p14:sldId id="260"/>
          </p14:sldIdLst>
        </p14:section>
        <p14:section name="Next steps" id="{2ee6af4b-0936-a59e-035a-18981716c395}">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 will walk through three simple payout plans. You choose how much to invest, how long to lock it in (one or two years), and how often you want to be paid: every quarter, every six months, or once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Pick an amount, lock it in for one or two years, choose how often you are paid, and receive earnings each period with your full amount back at the end. The next three slides show what each payout term means in real dollars. Mention the Earnings and Principal option for people who want part of their money back sooner.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Quarterly payouts. You are paid every 3 months. On $25,000 that is $500 each time. Over a 1-year term that is 4 payouts; over 2 years, 8 payouts. Your full investment is returned with the last payout. The table shows total earnings and the total you receive for $25,000, $50,000 and $100,000.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Half-yearly payouts. You are paid every 6 months. On $25,000 that is $1,125 each time. Over a 1-year term that is 2 payouts; over 2 years, 4 payouts. Your full investment is returned with the last payout. The table shows total earnings and the total you receive for $25,000, $50,000 and $100,000.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Yearly payouts. You are paid once a year. On $25,000 that is $2,500 each time. Over a 1-year term that is 1 payout; over 2 years, 2 payouts. Your full investment is returned with the last payout. The table shows total earnings and the total you receive for $25,000, $50,000 and $100,000.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call to action: open https://payout-calculator-steel.vercel.app/inquiries or scan the QR code, try your own numbers, and send an inquiry. Leave this slide up during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60120"/>
            <a:ext cx="804672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1965960"/>
            <a:ext cx="8046720" cy="54864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rtlCol="0"/>
          <a:lstStyle>
            <a:lvl1pPr indent="0" marL="0">
              <a:buNone/>
              <a:defRPr lang="en-US" sz="3200" b="1" dirty="0">
                <a:solidFill>
                  <a:schemeClr val="accent1"/>
                </a:solidFill>
              </a:defRPr>
            </a:lvl1pPr>
          </a:lstStyle>
          <a:p>
            <a:pPr indent="0" marL="0">
              <a:buNone/>
            </a:pPr>
            <a:endParaRPr lang="en-US" sz="3200" dirty="0"/>
          </a:p>
        </p:txBody>
      </p:sp>
      <p:sp>
        <p:nvSpPr>
          <p:cNvPr id="3"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1000" dirty="0">
                <a:solidFill>
                  <a:schemeClr val="accent4"/>
                </a:solidFill>
              </a:rPr>
              <a:t>Fixed-Term Investment Plans</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046720"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payout-calculator-steel.vercel.app/inquiries" TargetMode="External"/><Relationship Id="rId2" Type="http://schemas.openxmlformats.org/officeDocument/2006/relationships/image" Target="../media/image-6-1.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960120"/>
            <a:ext cx="8046720" cy="914400"/>
          </a:xfrm>
          <a:prstGeom prst="rect">
            <a:avLst/>
          </a:prstGeom>
          <a:noFill/>
          <a:ln/>
        </p:spPr>
        <p:txBody>
          <a:bodyPr wrap="square" lIns="0" tIns="0" rIns="0" bIns="0" rtlCol="0" anchor="b"/>
          <a:lstStyle/>
          <a:p>
            <a:pPr algn="l" indent="0" marL="0">
              <a:buNone/>
            </a:pPr>
            <a:r>
              <a:rPr lang="en-US" sz="4000" b="1" dirty="0">
                <a:solidFill>
                  <a:schemeClr val="bg1"/>
                </a:solidFill>
              </a:rPr>
              <a:t>Fixed-Term Investment Plans</a:t>
            </a:r>
            <a:endParaRPr lang="en-US" sz="4000" dirty="0"/>
          </a:p>
        </p:txBody>
      </p:sp>
      <p:sp>
        <p:nvSpPr>
          <p:cNvPr id="3" name="Text 0"/>
          <p:cNvSpPr/>
          <p:nvPr>
            <p:ph idx="101" type="body" hasCustomPrompt="1"/>
          </p:nvPr>
        </p:nvSpPr>
        <p:spPr>
          <a:xfrm>
            <a:off x="548640" y="1965960"/>
            <a:ext cx="8046720" cy="548640"/>
          </a:xfrm>
          <a:prstGeom prst="rect">
            <a:avLst/>
          </a:prstGeom>
          <a:noFill/>
          <a:ln/>
        </p:spPr>
        <p:txBody>
          <a:bodyPr wrap="square" lIns="0" tIns="0" rIns="0" bIns="0" rtlCol="0" anchor="t"/>
          <a:lstStyle/>
          <a:p>
            <a:pPr indent="0" marL="0">
              <a:buNone/>
            </a:pPr>
            <a:r>
              <a:rPr lang="en-US" sz="2000" dirty="0">
                <a:solidFill>
                  <a:schemeClr val="bg2"/>
                </a:solidFill>
              </a:rPr>
              <a:t>Regular payouts every quarter, half-year or year</a:t>
            </a:r>
            <a:endParaRPr lang="en-US" sz="2000" dirty="0"/>
          </a:p>
        </p:txBody>
      </p:sp>
      <p:sp>
        <p:nvSpPr>
          <p:cNvPr id="4" name="Cadence card Quarterly"/>
          <p:cNvSpPr/>
          <p:nvPr/>
        </p:nvSpPr>
        <p:spPr>
          <a:xfrm>
            <a:off x="548640" y="2971800"/>
            <a:ext cx="2468880" cy="1325880"/>
          </a:xfrm>
          <a:prstGeom prst="roundRect">
            <a:avLst>
              <a:gd name="adj" fmla="val 8276"/>
            </a:avLst>
          </a:prstGeom>
          <a:solidFill>
            <a:schemeClr val="accent1"/>
          </a:solidFill>
          <a:ln w="12700">
            <a:solidFill>
              <a:schemeClr val="accent1"/>
            </a:solidFill>
            <a:prstDash val="solid"/>
          </a:ln>
        </p:spPr>
      </p:sp>
      <p:sp>
        <p:nvSpPr>
          <p:cNvPr id="5" name="Cadence badge Quarterly"/>
          <p:cNvSpPr/>
          <p:nvPr/>
        </p:nvSpPr>
        <p:spPr>
          <a:xfrm>
            <a:off x="777240" y="3246120"/>
            <a:ext cx="777240" cy="777240"/>
          </a:xfrm>
          <a:prstGeom prst="ellipse">
            <a:avLst/>
          </a:prstGeom>
          <a:solidFill>
            <a:schemeClr val="accent2"/>
          </a:solidFill>
          <a:ln w="12700">
            <a:solidFill>
              <a:schemeClr val="accent2"/>
            </a:solidFill>
            <a:prstDash val="solid"/>
          </a:ln>
        </p:spPr>
      </p:sp>
      <p:sp>
        <p:nvSpPr>
          <p:cNvPr id="6" name="Cadence count Quarterly"/>
          <p:cNvSpPr txBox="1"/>
          <p:nvPr/>
        </p:nvSpPr>
        <p:spPr>
          <a:xfrm>
            <a:off x="777240" y="3246120"/>
            <a:ext cx="777240" cy="777240"/>
          </a:xfrm>
          <a:prstGeom prst="rect">
            <a:avLst/>
          </a:prstGeom>
          <a:noFill/>
          <a:ln/>
        </p:spPr>
        <p:txBody>
          <a:bodyPr wrap="square" lIns="0" tIns="0" rIns="0" bIns="0" rtlCol="0" anchor="ctr"/>
          <a:lstStyle/>
          <a:p>
            <a:pPr algn="ctr" indent="0" marL="0">
              <a:buNone/>
            </a:pPr>
            <a:r>
              <a:rPr lang="en-US" sz="2400" b="1" dirty="0">
                <a:solidFill>
                  <a:schemeClr val="tx2"/>
                </a:solidFill>
              </a:rPr>
              <a:t>4×</a:t>
            </a:r>
            <a:endParaRPr lang="en-US" sz="2400" dirty="0"/>
          </a:p>
        </p:txBody>
      </p:sp>
      <p:sp>
        <p:nvSpPr>
          <p:cNvPr id="7" name="Cadence label Quarterly"/>
          <p:cNvSpPr txBox="1"/>
          <p:nvPr/>
        </p:nvSpPr>
        <p:spPr>
          <a:xfrm>
            <a:off x="1691640" y="3200400"/>
            <a:ext cx="1234440" cy="868680"/>
          </a:xfrm>
          <a:prstGeom prst="rect">
            <a:avLst/>
          </a:prstGeom>
          <a:noFill/>
          <a:ln/>
        </p:spPr>
        <p:txBody>
          <a:bodyPr wrap="square" lIns="0" tIns="0" rIns="0" bIns="0" rtlCol="0" anchor="ctr"/>
          <a:lstStyle/>
          <a:p>
            <a:pPr indent="0" marL="0">
              <a:buNone/>
            </a:pPr>
            <a:r>
              <a:rPr lang="en-US" sz="1800" b="1" dirty="0">
                <a:solidFill>
                  <a:schemeClr val="bg1"/>
                </a:solidFill>
              </a:rPr>
              <a:t>Quarterly</a:t>
            </a:r>
            <a:endParaRPr lang="en-US" sz="1800" dirty="0"/>
          </a:p>
          <a:p>
            <a:pPr indent="0" marL="0">
              <a:buNone/>
            </a:pPr>
            <a:r>
              <a:rPr lang="en-US" sz="1400" dirty="0">
                <a:solidFill>
                  <a:schemeClr val="bg2"/>
                </a:solidFill>
              </a:rPr>
              <a:t>payouts a year</a:t>
            </a:r>
            <a:endParaRPr lang="en-US" sz="1800" dirty="0"/>
          </a:p>
        </p:txBody>
      </p:sp>
      <p:sp>
        <p:nvSpPr>
          <p:cNvPr id="8" name="Cadence card Half-yearly"/>
          <p:cNvSpPr/>
          <p:nvPr/>
        </p:nvSpPr>
        <p:spPr>
          <a:xfrm>
            <a:off x="3291840" y="2971800"/>
            <a:ext cx="2468880" cy="1325880"/>
          </a:xfrm>
          <a:prstGeom prst="roundRect">
            <a:avLst>
              <a:gd name="adj" fmla="val 8276"/>
            </a:avLst>
          </a:prstGeom>
          <a:solidFill>
            <a:schemeClr val="accent1"/>
          </a:solidFill>
          <a:ln w="12700">
            <a:solidFill>
              <a:schemeClr val="accent1"/>
            </a:solidFill>
            <a:prstDash val="solid"/>
          </a:ln>
        </p:spPr>
      </p:sp>
      <p:sp>
        <p:nvSpPr>
          <p:cNvPr id="9" name="Cadence badge Half-yearly"/>
          <p:cNvSpPr/>
          <p:nvPr/>
        </p:nvSpPr>
        <p:spPr>
          <a:xfrm>
            <a:off x="3520440" y="3246120"/>
            <a:ext cx="777240" cy="777240"/>
          </a:xfrm>
          <a:prstGeom prst="ellipse">
            <a:avLst/>
          </a:prstGeom>
          <a:solidFill>
            <a:schemeClr val="accent2"/>
          </a:solidFill>
          <a:ln w="12700">
            <a:solidFill>
              <a:schemeClr val="accent2"/>
            </a:solidFill>
            <a:prstDash val="solid"/>
          </a:ln>
        </p:spPr>
      </p:sp>
      <p:sp>
        <p:nvSpPr>
          <p:cNvPr id="10" name="Cadence count Half-yearly"/>
          <p:cNvSpPr txBox="1"/>
          <p:nvPr/>
        </p:nvSpPr>
        <p:spPr>
          <a:xfrm>
            <a:off x="3520440" y="3246120"/>
            <a:ext cx="777240" cy="777240"/>
          </a:xfrm>
          <a:prstGeom prst="rect">
            <a:avLst/>
          </a:prstGeom>
          <a:noFill/>
          <a:ln/>
        </p:spPr>
        <p:txBody>
          <a:bodyPr wrap="square" lIns="0" tIns="0" rIns="0" bIns="0" rtlCol="0" anchor="ctr"/>
          <a:lstStyle/>
          <a:p>
            <a:pPr algn="ctr" indent="0" marL="0">
              <a:buNone/>
            </a:pPr>
            <a:r>
              <a:rPr lang="en-US" sz="2400" b="1" dirty="0">
                <a:solidFill>
                  <a:schemeClr val="tx2"/>
                </a:solidFill>
              </a:rPr>
              <a:t>2×</a:t>
            </a:r>
            <a:endParaRPr lang="en-US" sz="2400" dirty="0"/>
          </a:p>
        </p:txBody>
      </p:sp>
      <p:sp>
        <p:nvSpPr>
          <p:cNvPr id="11" name="Cadence label Half-yearly"/>
          <p:cNvSpPr txBox="1"/>
          <p:nvPr/>
        </p:nvSpPr>
        <p:spPr>
          <a:xfrm>
            <a:off x="4434840" y="3200400"/>
            <a:ext cx="1234440" cy="868680"/>
          </a:xfrm>
          <a:prstGeom prst="rect">
            <a:avLst/>
          </a:prstGeom>
          <a:noFill/>
          <a:ln/>
        </p:spPr>
        <p:txBody>
          <a:bodyPr wrap="square" lIns="0" tIns="0" rIns="0" bIns="0" rtlCol="0" anchor="ctr"/>
          <a:lstStyle/>
          <a:p>
            <a:pPr indent="0" marL="0">
              <a:buNone/>
            </a:pPr>
            <a:r>
              <a:rPr lang="en-US" sz="1800" b="1" dirty="0">
                <a:solidFill>
                  <a:schemeClr val="bg1"/>
                </a:solidFill>
              </a:rPr>
              <a:t>Half-yearly</a:t>
            </a:r>
            <a:endParaRPr lang="en-US" sz="1800" dirty="0"/>
          </a:p>
          <a:p>
            <a:pPr indent="0" marL="0">
              <a:buNone/>
            </a:pPr>
            <a:r>
              <a:rPr lang="en-US" sz="1400" dirty="0">
                <a:solidFill>
                  <a:schemeClr val="bg2"/>
                </a:solidFill>
              </a:rPr>
              <a:t>payouts a year</a:t>
            </a:r>
            <a:endParaRPr lang="en-US" sz="1800" dirty="0"/>
          </a:p>
        </p:txBody>
      </p:sp>
      <p:sp>
        <p:nvSpPr>
          <p:cNvPr id="12" name="Cadence card Yearly"/>
          <p:cNvSpPr/>
          <p:nvPr/>
        </p:nvSpPr>
        <p:spPr>
          <a:xfrm>
            <a:off x="6035040" y="2971800"/>
            <a:ext cx="2468880" cy="1325880"/>
          </a:xfrm>
          <a:prstGeom prst="roundRect">
            <a:avLst>
              <a:gd name="adj" fmla="val 8276"/>
            </a:avLst>
          </a:prstGeom>
          <a:solidFill>
            <a:schemeClr val="accent1"/>
          </a:solidFill>
          <a:ln w="12700">
            <a:solidFill>
              <a:schemeClr val="accent1"/>
            </a:solidFill>
            <a:prstDash val="solid"/>
          </a:ln>
        </p:spPr>
      </p:sp>
      <p:sp>
        <p:nvSpPr>
          <p:cNvPr id="13" name="Cadence badge Yearly"/>
          <p:cNvSpPr/>
          <p:nvPr/>
        </p:nvSpPr>
        <p:spPr>
          <a:xfrm>
            <a:off x="6263640" y="3246120"/>
            <a:ext cx="777240" cy="777240"/>
          </a:xfrm>
          <a:prstGeom prst="ellipse">
            <a:avLst/>
          </a:prstGeom>
          <a:solidFill>
            <a:schemeClr val="accent2"/>
          </a:solidFill>
          <a:ln w="12700">
            <a:solidFill>
              <a:schemeClr val="accent2"/>
            </a:solidFill>
            <a:prstDash val="solid"/>
          </a:ln>
        </p:spPr>
      </p:sp>
      <p:sp>
        <p:nvSpPr>
          <p:cNvPr id="14" name="Cadence count Yearly"/>
          <p:cNvSpPr txBox="1"/>
          <p:nvPr/>
        </p:nvSpPr>
        <p:spPr>
          <a:xfrm>
            <a:off x="6263640" y="3246120"/>
            <a:ext cx="777240" cy="777240"/>
          </a:xfrm>
          <a:prstGeom prst="rect">
            <a:avLst/>
          </a:prstGeom>
          <a:noFill/>
          <a:ln/>
        </p:spPr>
        <p:txBody>
          <a:bodyPr wrap="square" lIns="0" tIns="0" rIns="0" bIns="0" rtlCol="0" anchor="ctr"/>
          <a:lstStyle/>
          <a:p>
            <a:pPr algn="ctr" indent="0" marL="0">
              <a:buNone/>
            </a:pPr>
            <a:r>
              <a:rPr lang="en-US" sz="2400" b="1" dirty="0">
                <a:solidFill>
                  <a:schemeClr val="tx2"/>
                </a:solidFill>
              </a:rPr>
              <a:t>1×</a:t>
            </a:r>
            <a:endParaRPr lang="en-US" sz="2400" dirty="0"/>
          </a:p>
        </p:txBody>
      </p:sp>
      <p:sp>
        <p:nvSpPr>
          <p:cNvPr id="15" name="Cadence label Yearly"/>
          <p:cNvSpPr txBox="1"/>
          <p:nvPr/>
        </p:nvSpPr>
        <p:spPr>
          <a:xfrm>
            <a:off x="7178040" y="3200400"/>
            <a:ext cx="1234440" cy="868680"/>
          </a:xfrm>
          <a:prstGeom prst="rect">
            <a:avLst/>
          </a:prstGeom>
          <a:noFill/>
          <a:ln/>
        </p:spPr>
        <p:txBody>
          <a:bodyPr wrap="square" lIns="0" tIns="0" rIns="0" bIns="0" rtlCol="0" anchor="ctr"/>
          <a:lstStyle/>
          <a:p>
            <a:pPr indent="0" marL="0">
              <a:buNone/>
            </a:pPr>
            <a:r>
              <a:rPr lang="en-US" sz="1800" b="1" dirty="0">
                <a:solidFill>
                  <a:schemeClr val="bg1"/>
                </a:solidFill>
              </a:rPr>
              <a:t>Yearly</a:t>
            </a:r>
            <a:endParaRPr lang="en-US" sz="1800" dirty="0"/>
          </a:p>
          <a:p>
            <a:pPr indent="0" marL="0">
              <a:buNone/>
            </a:pPr>
            <a:r>
              <a:rPr lang="en-US" sz="1400" dirty="0">
                <a:solidFill>
                  <a:schemeClr val="bg2"/>
                </a:solidFill>
              </a:rPr>
              <a:t>payouts a year</a:t>
            </a:r>
            <a:endParaRPr lang="en-US" sz="1800" dirty="0"/>
          </a:p>
        </p:txBody>
      </p:sp>
      <p:sp>
        <p:nvSpPr>
          <p:cNvPr id="16" name="Text 14"/>
          <p:cNvSpPr txBox="1"/>
          <p:nvPr/>
        </p:nvSpPr>
        <p:spPr>
          <a:xfrm>
            <a:off x="548640" y="4434840"/>
            <a:ext cx="8046720" cy="320040"/>
          </a:xfrm>
          <a:prstGeom prst="rect">
            <a:avLst/>
          </a:prstGeom>
          <a:noFill/>
          <a:ln/>
        </p:spPr>
        <p:txBody>
          <a:bodyPr wrap="square" lIns="0" tIns="0" rIns="0" bIns="0" rtlCol="0" anchor="ctr"/>
          <a:lstStyle/>
          <a:p>
            <a:pPr indent="0" marL="0">
              <a:buNone/>
            </a:pPr>
            <a:r>
              <a:rPr lang="en-US" sz="1400" i="1" dirty="0">
                <a:solidFill>
                  <a:schemeClr val="accent2"/>
                </a:solidFill>
              </a:rPr>
              <a:t>1- and 2-year terms · from $25,000</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3200" b="1" dirty="0">
                <a:solidFill>
                  <a:schemeClr val="accent1"/>
                </a:solidFill>
              </a:rPr>
              <a:t>How it works</a:t>
            </a:r>
            <a:endParaRPr lang="en-US" sz="3200" dirty="0"/>
          </a:p>
        </p:txBody>
      </p:sp>
      <p:sp>
        <p:nvSpPr>
          <p:cNvPr id="3" name="Step card 1"/>
          <p:cNvSpPr/>
          <p:nvPr/>
        </p:nvSpPr>
        <p:spPr>
          <a:xfrm>
            <a:off x="457200" y="1143000"/>
            <a:ext cx="1874520" cy="2240280"/>
          </a:xfrm>
          <a:prstGeom prst="roundRect">
            <a:avLst>
              <a:gd name="adj" fmla="val 4878"/>
            </a:avLst>
          </a:prstGeom>
          <a:solidFill>
            <a:schemeClr val="bg2"/>
          </a:solidFill>
          <a:ln w="12700">
            <a:solidFill>
              <a:schemeClr val="bg2"/>
            </a:solidFill>
            <a:prstDash val="solid"/>
          </a:ln>
        </p:spPr>
      </p:sp>
      <p:sp>
        <p:nvSpPr>
          <p:cNvPr id="4" name="Step badge 1"/>
          <p:cNvSpPr/>
          <p:nvPr/>
        </p:nvSpPr>
        <p:spPr>
          <a:xfrm>
            <a:off x="640080" y="1325880"/>
            <a:ext cx="548640" cy="548640"/>
          </a:xfrm>
          <a:prstGeom prst="ellipse">
            <a:avLst/>
          </a:prstGeom>
          <a:solidFill>
            <a:schemeClr val="accent1"/>
          </a:solidFill>
          <a:ln w="12700">
            <a:solidFill>
              <a:schemeClr val="accent1"/>
            </a:solidFill>
            <a:prstDash val="solid"/>
          </a:ln>
        </p:spPr>
      </p:sp>
      <p:sp>
        <p:nvSpPr>
          <p:cNvPr id="5" name="Step number 1"/>
          <p:cNvSpPr txBox="1"/>
          <p:nvPr/>
        </p:nvSpPr>
        <p:spPr>
          <a:xfrm>
            <a:off x="640080" y="13258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Step text 1"/>
          <p:cNvSpPr txBox="1"/>
          <p:nvPr/>
        </p:nvSpPr>
        <p:spPr>
          <a:xfrm>
            <a:off x="640080" y="2011680"/>
            <a:ext cx="1554480" cy="128016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Choose your amount</a:t>
            </a:r>
            <a:endParaRPr lang="en-US" sz="1600" dirty="0"/>
          </a:p>
          <a:p>
            <a:pPr indent="0" marL="0">
              <a:spcAft>
                <a:spcPts val="400"/>
              </a:spcAft>
              <a:buNone/>
            </a:pPr>
            <a:r>
              <a:rPr lang="en-US" sz="1400" dirty="0">
                <a:solidFill>
                  <a:schemeClr val="tx1"/>
                </a:solidFill>
              </a:rPr>
              <a:t>$25,000, $50,000, $75,000 or $100,000</a:t>
            </a:r>
            <a:endParaRPr lang="en-US" sz="1600" dirty="0"/>
          </a:p>
        </p:txBody>
      </p:sp>
      <p:sp>
        <p:nvSpPr>
          <p:cNvPr id="7" name="Step card 2"/>
          <p:cNvSpPr/>
          <p:nvPr/>
        </p:nvSpPr>
        <p:spPr>
          <a:xfrm>
            <a:off x="2560320" y="1143000"/>
            <a:ext cx="1874520" cy="2240280"/>
          </a:xfrm>
          <a:prstGeom prst="roundRect">
            <a:avLst>
              <a:gd name="adj" fmla="val 4878"/>
            </a:avLst>
          </a:prstGeom>
          <a:solidFill>
            <a:schemeClr val="bg2"/>
          </a:solidFill>
          <a:ln w="12700">
            <a:solidFill>
              <a:schemeClr val="bg2"/>
            </a:solidFill>
            <a:prstDash val="solid"/>
          </a:ln>
        </p:spPr>
      </p:sp>
      <p:sp>
        <p:nvSpPr>
          <p:cNvPr id="8" name="Step badge 2"/>
          <p:cNvSpPr/>
          <p:nvPr/>
        </p:nvSpPr>
        <p:spPr>
          <a:xfrm>
            <a:off x="2743200" y="1325880"/>
            <a:ext cx="548640" cy="548640"/>
          </a:xfrm>
          <a:prstGeom prst="ellipse">
            <a:avLst/>
          </a:prstGeom>
          <a:solidFill>
            <a:schemeClr val="accent1"/>
          </a:solidFill>
          <a:ln w="12700">
            <a:solidFill>
              <a:schemeClr val="accent1"/>
            </a:solidFill>
            <a:prstDash val="solid"/>
          </a:ln>
        </p:spPr>
      </p:sp>
      <p:sp>
        <p:nvSpPr>
          <p:cNvPr id="9" name="Step number 2"/>
          <p:cNvSpPr txBox="1"/>
          <p:nvPr/>
        </p:nvSpPr>
        <p:spPr>
          <a:xfrm>
            <a:off x="2743200" y="13258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Step text 2"/>
          <p:cNvSpPr txBox="1"/>
          <p:nvPr/>
        </p:nvSpPr>
        <p:spPr>
          <a:xfrm>
            <a:off x="2743200" y="2011680"/>
            <a:ext cx="1554480" cy="128016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Lock it in</a:t>
            </a:r>
            <a:endParaRPr lang="en-US" sz="1600" dirty="0"/>
          </a:p>
          <a:p>
            <a:pPr indent="0" marL="0">
              <a:spcAft>
                <a:spcPts val="400"/>
              </a:spcAft>
              <a:buNone/>
            </a:pPr>
            <a:r>
              <a:rPr lang="en-US" sz="1400" dirty="0">
                <a:solidFill>
                  <a:schemeClr val="tx1"/>
                </a:solidFill>
              </a:rPr>
              <a:t>For a term of 1 or 2 years</a:t>
            </a:r>
            <a:endParaRPr lang="en-US" sz="1600" dirty="0"/>
          </a:p>
        </p:txBody>
      </p:sp>
      <p:sp>
        <p:nvSpPr>
          <p:cNvPr id="11" name="Step card 3"/>
          <p:cNvSpPr/>
          <p:nvPr/>
        </p:nvSpPr>
        <p:spPr>
          <a:xfrm>
            <a:off x="4663440" y="1143000"/>
            <a:ext cx="1874520" cy="2240280"/>
          </a:xfrm>
          <a:prstGeom prst="roundRect">
            <a:avLst>
              <a:gd name="adj" fmla="val 4878"/>
            </a:avLst>
          </a:prstGeom>
          <a:solidFill>
            <a:schemeClr val="bg2"/>
          </a:solidFill>
          <a:ln w="12700">
            <a:solidFill>
              <a:schemeClr val="bg2"/>
            </a:solidFill>
            <a:prstDash val="solid"/>
          </a:ln>
        </p:spPr>
      </p:sp>
      <p:sp>
        <p:nvSpPr>
          <p:cNvPr id="12" name="Step badge 3"/>
          <p:cNvSpPr/>
          <p:nvPr/>
        </p:nvSpPr>
        <p:spPr>
          <a:xfrm>
            <a:off x="4846320" y="1325880"/>
            <a:ext cx="548640" cy="548640"/>
          </a:xfrm>
          <a:prstGeom prst="ellipse">
            <a:avLst/>
          </a:prstGeom>
          <a:solidFill>
            <a:schemeClr val="accent1"/>
          </a:solidFill>
          <a:ln w="12700">
            <a:solidFill>
              <a:schemeClr val="accent1"/>
            </a:solidFill>
            <a:prstDash val="solid"/>
          </a:ln>
        </p:spPr>
      </p:sp>
      <p:sp>
        <p:nvSpPr>
          <p:cNvPr id="13" name="Step number 3"/>
          <p:cNvSpPr txBox="1"/>
          <p:nvPr/>
        </p:nvSpPr>
        <p:spPr>
          <a:xfrm>
            <a:off x="4846320" y="13258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4" name="Step text 3"/>
          <p:cNvSpPr txBox="1"/>
          <p:nvPr/>
        </p:nvSpPr>
        <p:spPr>
          <a:xfrm>
            <a:off x="4846320" y="2011680"/>
            <a:ext cx="1554480" cy="128016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Pick your payout term</a:t>
            </a:r>
            <a:endParaRPr lang="en-US" sz="1600" dirty="0"/>
          </a:p>
          <a:p>
            <a:pPr indent="0" marL="0">
              <a:spcAft>
                <a:spcPts val="400"/>
              </a:spcAft>
              <a:buNone/>
            </a:pPr>
            <a:r>
              <a:rPr lang="en-US" sz="1400" dirty="0">
                <a:solidFill>
                  <a:schemeClr val="tx1"/>
                </a:solidFill>
              </a:rPr>
              <a:t>Quarterly, half-yearly or yearly</a:t>
            </a:r>
            <a:endParaRPr lang="en-US" sz="1600" dirty="0"/>
          </a:p>
        </p:txBody>
      </p:sp>
      <p:sp>
        <p:nvSpPr>
          <p:cNvPr id="15" name="Step card 4"/>
          <p:cNvSpPr/>
          <p:nvPr/>
        </p:nvSpPr>
        <p:spPr>
          <a:xfrm>
            <a:off x="6766560" y="1143000"/>
            <a:ext cx="1874520" cy="2240280"/>
          </a:xfrm>
          <a:prstGeom prst="roundRect">
            <a:avLst>
              <a:gd name="adj" fmla="val 4878"/>
            </a:avLst>
          </a:prstGeom>
          <a:solidFill>
            <a:schemeClr val="bg2"/>
          </a:solidFill>
          <a:ln w="12700">
            <a:solidFill>
              <a:schemeClr val="bg2"/>
            </a:solidFill>
            <a:prstDash val="solid"/>
          </a:ln>
        </p:spPr>
      </p:sp>
      <p:sp>
        <p:nvSpPr>
          <p:cNvPr id="16" name="Step badge 4"/>
          <p:cNvSpPr/>
          <p:nvPr/>
        </p:nvSpPr>
        <p:spPr>
          <a:xfrm>
            <a:off x="6949440" y="1325880"/>
            <a:ext cx="548640" cy="548640"/>
          </a:xfrm>
          <a:prstGeom prst="ellipse">
            <a:avLst/>
          </a:prstGeom>
          <a:solidFill>
            <a:schemeClr val="accent1"/>
          </a:solidFill>
          <a:ln w="12700">
            <a:solidFill>
              <a:schemeClr val="accent1"/>
            </a:solidFill>
            <a:prstDash val="solid"/>
          </a:ln>
        </p:spPr>
      </p:sp>
      <p:sp>
        <p:nvSpPr>
          <p:cNvPr id="17" name="Step number 4"/>
          <p:cNvSpPr txBox="1"/>
          <p:nvPr/>
        </p:nvSpPr>
        <p:spPr>
          <a:xfrm>
            <a:off x="6949440" y="13258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8" name="Step text 4"/>
          <p:cNvSpPr txBox="1"/>
          <p:nvPr/>
        </p:nvSpPr>
        <p:spPr>
          <a:xfrm>
            <a:off x="6949440" y="2011680"/>
            <a:ext cx="1554480" cy="128016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Get paid</a:t>
            </a:r>
            <a:endParaRPr lang="en-US" sz="1600" dirty="0"/>
          </a:p>
          <a:p>
            <a:pPr indent="0" marL="0">
              <a:spcAft>
                <a:spcPts val="400"/>
              </a:spcAft>
              <a:buNone/>
            </a:pPr>
            <a:r>
              <a:rPr lang="en-US" sz="1400" dirty="0">
                <a:solidFill>
                  <a:schemeClr val="tx1"/>
                </a:solidFill>
              </a:rPr>
              <a:t>Earnings every period, your full amount back at the end</a:t>
            </a:r>
            <a:endParaRPr lang="en-US" sz="1600" dirty="0"/>
          </a:p>
        </p:txBody>
      </p:sp>
      <p:sp>
        <p:nvSpPr>
          <p:cNvPr id="19" name="Good to know box"/>
          <p:cNvSpPr/>
          <p:nvPr/>
        </p:nvSpPr>
        <p:spPr>
          <a:xfrm>
            <a:off x="457200" y="3611880"/>
            <a:ext cx="8229600" cy="960120"/>
          </a:xfrm>
          <a:prstGeom prst="roundRect">
            <a:avLst>
              <a:gd name="adj" fmla="val 9524"/>
            </a:avLst>
          </a:prstGeom>
          <a:solidFill>
            <a:schemeClr val="accent5"/>
          </a:solidFill>
          <a:ln w="12700">
            <a:solidFill>
              <a:schemeClr val="accent5"/>
            </a:solidFill>
            <a:prstDash val="solid"/>
          </a:ln>
        </p:spPr>
      </p:sp>
      <p:sp>
        <p:nvSpPr>
          <p:cNvPr id="20" name="Text 18"/>
          <p:cNvSpPr txBox="1"/>
          <p:nvPr/>
        </p:nvSpPr>
        <p:spPr>
          <a:xfrm>
            <a:off x="685800" y="3657600"/>
            <a:ext cx="7772400" cy="868680"/>
          </a:xfrm>
          <a:prstGeom prst="rect">
            <a:avLst/>
          </a:prstGeom>
          <a:noFill/>
          <a:ln/>
        </p:spPr>
        <p:txBody>
          <a:bodyPr wrap="square" lIns="0" tIns="0" rIns="0" bIns="0" rtlCol="0" anchor="ctr"/>
          <a:lstStyle/>
          <a:p>
            <a:pPr indent="0" marL="0">
              <a:buNone/>
            </a:pPr>
            <a:r>
              <a:rPr lang="en-US" sz="1400" b="1" dirty="0">
                <a:solidFill>
                  <a:schemeClr val="accent1"/>
                </a:solidFill>
              </a:rPr>
              <a:t>Good to know  </a:t>
            </a:r>
            <a:pPr indent="0" marL="0">
              <a:buNone/>
            </a:pPr>
            <a:r>
              <a:rPr lang="en-US" sz="1400" dirty="0">
                <a:solidFill>
                  <a:schemeClr val="tx1"/>
                </a:solidFill>
              </a:rPr>
              <a:t>Earnings are simple (not compounded) and start the next business day after you invest. Prefer part of your money back with every payout? Choose </a:t>
            </a:r>
            <a:pPr indent="0" marL="0">
              <a:buNone/>
            </a:pPr>
            <a:r>
              <a:rPr lang="en-US" sz="1400" b="1" dirty="0">
                <a:solidFill>
                  <a:schemeClr val="tx1"/>
                </a:solidFill>
              </a:rPr>
              <a:t>Earnings and Principal</a:t>
            </a:r>
            <a:pPr indent="0" marL="0">
              <a:buNone/>
            </a:pPr>
            <a:r>
              <a:rPr lang="en-US" sz="1400" dirty="0">
                <a:solidFill>
                  <a:schemeClr val="tx1"/>
                </a:solidFill>
              </a:rPr>
              <a:t> instead of Earnings Only.</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3200" b="1" dirty="0">
                <a:solidFill>
                  <a:schemeClr val="accent1"/>
                </a:solidFill>
              </a:rPr>
              <a:t>Quarterly payouts</a:t>
            </a:r>
            <a:endParaRPr lang="en-US" sz="3200" dirty="0"/>
          </a:p>
        </p:txBody>
      </p:sp>
      <p:sp>
        <p:nvSpPr>
          <p:cNvPr id="3" name="Text 1"/>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chemeClr val="tx1"/>
                </a:solidFill>
              </a:rPr>
              <a:t>Earnings every 3 months, 4 payouts a year, your full amount back at the end of the term</a:t>
            </a:r>
            <a:endParaRPr lang="en-US" sz="1400" dirty="0"/>
          </a:p>
        </p:txBody>
      </p:sp>
      <p:sp>
        <p:nvSpPr>
          <p:cNvPr id="4" name="Quarterly payouts payout card"/>
          <p:cNvSpPr/>
          <p:nvPr/>
        </p:nvSpPr>
        <p:spPr>
          <a:xfrm>
            <a:off x="457200" y="1371600"/>
            <a:ext cx="2743200" cy="2971800"/>
          </a:xfrm>
          <a:prstGeom prst="roundRect">
            <a:avLst>
              <a:gd name="adj" fmla="val 4000"/>
            </a:avLst>
          </a:prstGeom>
          <a:solidFill>
            <a:schemeClr val="accent1"/>
          </a:solidFill>
          <a:ln w="12700">
            <a:solidFill>
              <a:schemeClr val="accent1"/>
            </a:solidFill>
            <a:prstDash val="solid"/>
          </a:ln>
        </p:spPr>
      </p:sp>
      <p:sp>
        <p:nvSpPr>
          <p:cNvPr id="5" name="Text 3"/>
          <p:cNvSpPr txBox="1"/>
          <p:nvPr/>
        </p:nvSpPr>
        <p:spPr>
          <a:xfrm>
            <a:off x="685800" y="1508760"/>
            <a:ext cx="2377440" cy="365760"/>
          </a:xfrm>
          <a:prstGeom prst="rect">
            <a:avLst/>
          </a:prstGeom>
          <a:noFill/>
          <a:ln/>
        </p:spPr>
        <p:txBody>
          <a:bodyPr wrap="square" lIns="0" tIns="0" rIns="0" bIns="0" rtlCol="0" anchor="ctr"/>
          <a:lstStyle/>
          <a:p>
            <a:pPr indent="0" marL="0">
              <a:buNone/>
            </a:pPr>
            <a:r>
              <a:rPr lang="en-US" sz="1600" b="1" dirty="0">
                <a:solidFill>
                  <a:schemeClr val="bg1"/>
                </a:solidFill>
              </a:rPr>
              <a:t>Every quarter you receive</a:t>
            </a:r>
            <a:endParaRPr lang="en-US" sz="1600" dirty="0"/>
          </a:p>
        </p:txBody>
      </p:sp>
      <p:sp>
        <p:nvSpPr>
          <p:cNvPr id="6" name="Text 4"/>
          <p:cNvSpPr txBox="1"/>
          <p:nvPr/>
        </p:nvSpPr>
        <p:spPr>
          <a:xfrm>
            <a:off x="685800" y="1920240"/>
            <a:ext cx="2377440" cy="274320"/>
          </a:xfrm>
          <a:prstGeom prst="rect">
            <a:avLst/>
          </a:prstGeom>
          <a:noFill/>
          <a:ln/>
        </p:spPr>
        <p:txBody>
          <a:bodyPr wrap="square" lIns="0" tIns="0" rIns="0" bIns="0" rtlCol="0" anchor="ctr"/>
          <a:lstStyle/>
          <a:p>
            <a:pPr indent="0" marL="0">
              <a:buNone/>
            </a:pPr>
            <a:r>
              <a:rPr lang="en-US" sz="1400" dirty="0">
                <a:solidFill>
                  <a:schemeClr val="bg2"/>
                </a:solidFill>
              </a:rPr>
              <a:t>on $25,000</a:t>
            </a:r>
            <a:endParaRPr lang="en-US" sz="1400" dirty="0"/>
          </a:p>
        </p:txBody>
      </p:sp>
      <p:sp>
        <p:nvSpPr>
          <p:cNvPr id="7" name="Quarterly payouts payout 25000"/>
          <p:cNvSpPr txBox="1"/>
          <p:nvPr/>
        </p:nvSpPr>
        <p:spPr>
          <a:xfrm>
            <a:off x="685800" y="2167128"/>
            <a:ext cx="2377440" cy="502920"/>
          </a:xfrm>
          <a:prstGeom prst="rect">
            <a:avLst/>
          </a:prstGeom>
          <a:noFill/>
          <a:ln/>
        </p:spPr>
        <p:txBody>
          <a:bodyPr wrap="square" lIns="0" tIns="0" rIns="0" bIns="0" rtlCol="0" anchor="ctr"/>
          <a:lstStyle/>
          <a:p>
            <a:pPr indent="0" marL="0">
              <a:buNone/>
            </a:pPr>
            <a:r>
              <a:rPr lang="en-US" sz="3000" b="1" dirty="0">
                <a:solidFill>
                  <a:schemeClr val="accent2"/>
                </a:solidFill>
              </a:rPr>
              <a:t>$500</a:t>
            </a:r>
            <a:endParaRPr lang="en-US" sz="3000" dirty="0"/>
          </a:p>
        </p:txBody>
      </p:sp>
      <p:sp>
        <p:nvSpPr>
          <p:cNvPr id="8" name="Text 6"/>
          <p:cNvSpPr txBox="1"/>
          <p:nvPr/>
        </p:nvSpPr>
        <p:spPr>
          <a:xfrm>
            <a:off x="685800" y="2724912"/>
            <a:ext cx="2377440" cy="274320"/>
          </a:xfrm>
          <a:prstGeom prst="rect">
            <a:avLst/>
          </a:prstGeom>
          <a:noFill/>
          <a:ln/>
        </p:spPr>
        <p:txBody>
          <a:bodyPr wrap="square" lIns="0" tIns="0" rIns="0" bIns="0" rtlCol="0" anchor="ctr"/>
          <a:lstStyle/>
          <a:p>
            <a:pPr indent="0" marL="0">
              <a:buNone/>
            </a:pPr>
            <a:r>
              <a:rPr lang="en-US" sz="1400" dirty="0">
                <a:solidFill>
                  <a:schemeClr val="bg2"/>
                </a:solidFill>
              </a:rPr>
              <a:t>on $50,000</a:t>
            </a:r>
            <a:endParaRPr lang="en-US" sz="1400" dirty="0"/>
          </a:p>
        </p:txBody>
      </p:sp>
      <p:sp>
        <p:nvSpPr>
          <p:cNvPr id="9" name="Quarterly payouts payout 50000"/>
          <p:cNvSpPr txBox="1"/>
          <p:nvPr/>
        </p:nvSpPr>
        <p:spPr>
          <a:xfrm>
            <a:off x="685800" y="2971800"/>
            <a:ext cx="2377440" cy="502920"/>
          </a:xfrm>
          <a:prstGeom prst="rect">
            <a:avLst/>
          </a:prstGeom>
          <a:noFill/>
          <a:ln/>
        </p:spPr>
        <p:txBody>
          <a:bodyPr wrap="square" lIns="0" tIns="0" rIns="0" bIns="0" rtlCol="0" anchor="ctr"/>
          <a:lstStyle/>
          <a:p>
            <a:pPr indent="0" marL="0">
              <a:buNone/>
            </a:pPr>
            <a:r>
              <a:rPr lang="en-US" sz="3000" b="1" dirty="0">
                <a:solidFill>
                  <a:schemeClr val="accent2"/>
                </a:solidFill>
              </a:rPr>
              <a:t>$1,000</a:t>
            </a:r>
            <a:endParaRPr lang="en-US" sz="3000" dirty="0"/>
          </a:p>
        </p:txBody>
      </p:sp>
      <p:sp>
        <p:nvSpPr>
          <p:cNvPr id="10" name="Text 8"/>
          <p:cNvSpPr txBox="1"/>
          <p:nvPr/>
        </p:nvSpPr>
        <p:spPr>
          <a:xfrm>
            <a:off x="685800" y="3529584"/>
            <a:ext cx="2377440" cy="274320"/>
          </a:xfrm>
          <a:prstGeom prst="rect">
            <a:avLst/>
          </a:prstGeom>
          <a:noFill/>
          <a:ln/>
        </p:spPr>
        <p:txBody>
          <a:bodyPr wrap="square" lIns="0" tIns="0" rIns="0" bIns="0" rtlCol="0" anchor="ctr"/>
          <a:lstStyle/>
          <a:p>
            <a:pPr indent="0" marL="0">
              <a:buNone/>
            </a:pPr>
            <a:r>
              <a:rPr lang="en-US" sz="1400" dirty="0">
                <a:solidFill>
                  <a:schemeClr val="bg2"/>
                </a:solidFill>
              </a:rPr>
              <a:t>on $100,000</a:t>
            </a:r>
            <a:endParaRPr lang="en-US" sz="1400" dirty="0"/>
          </a:p>
        </p:txBody>
      </p:sp>
      <p:sp>
        <p:nvSpPr>
          <p:cNvPr id="11" name="Quarterly payouts payout 100000"/>
          <p:cNvSpPr txBox="1"/>
          <p:nvPr/>
        </p:nvSpPr>
        <p:spPr>
          <a:xfrm>
            <a:off x="685800" y="3776472"/>
            <a:ext cx="2377440" cy="502920"/>
          </a:xfrm>
          <a:prstGeom prst="rect">
            <a:avLst/>
          </a:prstGeom>
          <a:noFill/>
          <a:ln/>
        </p:spPr>
        <p:txBody>
          <a:bodyPr wrap="square" lIns="0" tIns="0" rIns="0" bIns="0" rtlCol="0" anchor="ctr"/>
          <a:lstStyle/>
          <a:p>
            <a:pPr indent="0" marL="0">
              <a:buNone/>
            </a:pPr>
            <a:r>
              <a:rPr lang="en-US" sz="3000" b="1" dirty="0">
                <a:solidFill>
                  <a:schemeClr val="accent2"/>
                </a:solidFill>
              </a:rPr>
              <a:t>$2,000</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474720" y="1371600"/>
          <a:ext cx="5212080" cy="914400"/>
        </p:xfrm>
        <a:graphic>
          <a:graphicData uri="http://schemas.openxmlformats.org/drawingml/2006/table">
            <a:tbl>
              <a:tblPr/>
              <a:tblGrid>
                <a:gridCol w="1188720"/>
                <a:gridCol w="960120"/>
                <a:gridCol w="1051560"/>
                <a:gridCol w="960120"/>
                <a:gridCol w="1051560"/>
              </a:tblGrid>
              <a:tr h="411480">
                <a:tc rowSpan="2">
                  <a:txBody>
                    <a:bodyPr/>
                    <a:lstStyle/>
                    <a:p>
                      <a:pPr algn="l" indent="0" marL="0">
                        <a:buNone/>
                      </a:pPr>
                      <a:r>
                        <a:rPr lang="en-US" sz="1300" b="1" dirty="0">
                          <a:solidFill>
                            <a:srgbClr val="FFFFFF"/>
                          </a:solidFill>
                        </a:rPr>
                        <a:t>Investment</a:t>
                      </a:r>
                      <a:endParaRPr lang="en-US" sz="13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16285A"/>
                    </a:solidFill>
                  </a:tcPr>
                </a:tc>
                <a:tc gridSpan="2">
                  <a:txBody>
                    <a:bodyPr/>
                    <a:lstStyle/>
                    <a:p>
                      <a:pPr algn="ctr" indent="0" marL="0">
                        <a:buNone/>
                      </a:pPr>
                      <a:r>
                        <a:rPr lang="en-US" sz="1300" b="1" dirty="0">
                          <a:solidFill>
                            <a:srgbClr val="FFFFFF"/>
                          </a:solidFill>
                        </a:rPr>
                        <a:t>1-year term (4 payouts)</a:t>
                      </a:r>
                      <a:endParaRPr lang="en-US" sz="13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16285A"/>
                    </a:solidFill>
                  </a:tcPr>
                </a:tc>
                <a:tc hMerge="1">
                  <a:tcPr/>
                </a:tc>
                <a:tc gridSpan="2">
                  <a:txBody>
                    <a:bodyPr/>
                    <a:lstStyle/>
                    <a:p>
                      <a:pPr algn="ctr" indent="0" marL="0">
                        <a:buNone/>
                      </a:pPr>
                      <a:r>
                        <a:rPr lang="en-US" sz="1300" b="1" dirty="0">
                          <a:solidFill>
                            <a:srgbClr val="FFFFFF"/>
                          </a:solidFill>
                        </a:rPr>
                        <a:t>2-year term (8 payouts)</a:t>
                      </a:r>
                      <a:endParaRPr lang="en-US" sz="13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16285A"/>
                    </a:solidFill>
                  </a:tcPr>
                </a:tc>
                <a:tc hMerge="1">
                  <a:tcPr/>
                </a:tc>
              </a:tr>
              <a:tr h="365760">
                <a:tc vMerge="1">
                  <a:tcPr/>
                </a:tc>
                <a:tc>
                  <a:txBody>
                    <a:bodyPr/>
                    <a:lstStyle/>
                    <a:p>
                      <a:pPr algn="ctr" indent="0" marL="0">
                        <a:buNone/>
                      </a:pPr>
                      <a:r>
                        <a:rPr lang="en-US" sz="1200" b="1" dirty="0">
                          <a:solidFill>
                            <a:srgbClr val="16285A"/>
                          </a:solidFill>
                        </a:rPr>
                        <a:t>Earnings</a:t>
                      </a:r>
                      <a:endParaRPr lang="en-US" sz="12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DCE6F5"/>
                    </a:solidFill>
                  </a:tcPr>
                </a:tc>
                <a:tc>
                  <a:txBody>
                    <a:bodyPr/>
                    <a:lstStyle/>
                    <a:p>
                      <a:pPr algn="ctr" indent="0" marL="0">
                        <a:buNone/>
                      </a:pPr>
                      <a:r>
                        <a:rPr lang="en-US" sz="1200" b="1" dirty="0">
                          <a:solidFill>
                            <a:srgbClr val="16285A"/>
                          </a:solidFill>
                        </a:rPr>
                        <a:t>You receive</a:t>
                      </a:r>
                      <a:endParaRPr lang="en-US" sz="12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DCE6F5"/>
                    </a:solidFill>
                  </a:tcPr>
                </a:tc>
                <a:tc>
                  <a:txBody>
                    <a:bodyPr/>
                    <a:lstStyle/>
                    <a:p>
                      <a:pPr algn="ctr" indent="0" marL="0">
                        <a:buNone/>
                      </a:pPr>
                      <a:r>
                        <a:rPr lang="en-US" sz="1200" b="1" dirty="0">
                          <a:solidFill>
                            <a:srgbClr val="16285A"/>
                          </a:solidFill>
                        </a:rPr>
                        <a:t>Earnings</a:t>
                      </a:r>
                      <a:endParaRPr lang="en-US" sz="12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DCE6F5"/>
                    </a:solidFill>
                  </a:tcPr>
                </a:tc>
                <a:tc>
                  <a:txBody>
                    <a:bodyPr/>
                    <a:lstStyle/>
                    <a:p>
                      <a:pPr algn="ctr" indent="0" marL="0">
                        <a:buNone/>
                      </a:pPr>
                      <a:r>
                        <a:rPr lang="en-US" sz="1200" b="1" dirty="0">
                          <a:solidFill>
                            <a:srgbClr val="16285A"/>
                          </a:solidFill>
                        </a:rPr>
                        <a:t>You receive</a:t>
                      </a:r>
                      <a:endParaRPr lang="en-US" sz="12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DCE6F5"/>
                    </a:solidFill>
                  </a:tcPr>
                </a:tc>
              </a:tr>
              <a:tr h="411480">
                <a:tc>
                  <a:txBody>
                    <a:bodyPr/>
                    <a:lstStyle/>
                    <a:p>
                      <a:pPr algn="l" indent="0" marL="0">
                        <a:buNone/>
                      </a:pPr>
                      <a:r>
                        <a:rPr lang="en-US" sz="1400" b="1" dirty="0">
                          <a:solidFill>
                            <a:srgbClr val="1B2A41"/>
                          </a:solidFill>
                        </a:rPr>
                        <a:t>$25,000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41"/>
                          </a:solidFill>
                        </a:rPr>
                        <a:t>$2,000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41"/>
                          </a:solidFill>
                        </a:rPr>
                        <a:t>$27,000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E3A8A"/>
                          </a:solidFill>
                        </a:rPr>
                        <a:t>$4,000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41"/>
                          </a:solidFill>
                        </a:rPr>
                        <a:t>$29,000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FFFFFF"/>
                    </a:solidFill>
                  </a:tcPr>
                </a:tc>
              </a:tr>
              <a:tr h="411480">
                <a:tc>
                  <a:txBody>
                    <a:bodyPr/>
                    <a:lstStyle/>
                    <a:p>
                      <a:pPr algn="l" indent="0" marL="0">
                        <a:buNone/>
                      </a:pPr>
                      <a:r>
                        <a:rPr lang="en-US" sz="1400" b="1" dirty="0">
                          <a:solidFill>
                            <a:srgbClr val="1B2A41"/>
                          </a:solidFill>
                        </a:rPr>
                        <a:t>$50,000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EEF3FB"/>
                    </a:solidFill>
                  </a:tcPr>
                </a:tc>
                <a:tc>
                  <a:txBody>
                    <a:bodyPr/>
                    <a:lstStyle/>
                    <a:p>
                      <a:pPr algn="r" indent="0" marL="0">
                        <a:buNone/>
                      </a:pPr>
                      <a:r>
                        <a:rPr lang="en-US" sz="1400" dirty="0">
                          <a:solidFill>
                            <a:srgbClr val="1B2A41"/>
                          </a:solidFill>
                        </a:rPr>
                        <a:t>$4,000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EEF3FB"/>
                    </a:solidFill>
                  </a:tcPr>
                </a:tc>
                <a:tc>
                  <a:txBody>
                    <a:bodyPr/>
                    <a:lstStyle/>
                    <a:p>
                      <a:pPr algn="r" indent="0" marL="0">
                        <a:buNone/>
                      </a:pPr>
                      <a:r>
                        <a:rPr lang="en-US" sz="1400" dirty="0">
                          <a:solidFill>
                            <a:srgbClr val="1B2A41"/>
                          </a:solidFill>
                        </a:rPr>
                        <a:t>$54,000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EEF3FB"/>
                    </a:solidFill>
                  </a:tcPr>
                </a:tc>
                <a:tc>
                  <a:txBody>
                    <a:bodyPr/>
                    <a:lstStyle/>
                    <a:p>
                      <a:pPr algn="r" indent="0" marL="0">
                        <a:buNone/>
                      </a:pPr>
                      <a:r>
                        <a:rPr lang="en-US" sz="1400" b="1" dirty="0">
                          <a:solidFill>
                            <a:srgbClr val="1E3A8A"/>
                          </a:solidFill>
                        </a:rPr>
                        <a:t>$8,000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EEF3FB"/>
                    </a:solidFill>
                  </a:tcPr>
                </a:tc>
                <a:tc>
                  <a:txBody>
                    <a:bodyPr/>
                    <a:lstStyle/>
                    <a:p>
                      <a:pPr algn="r" indent="0" marL="0">
                        <a:buNone/>
                      </a:pPr>
                      <a:r>
                        <a:rPr lang="en-US" sz="1400" dirty="0">
                          <a:solidFill>
                            <a:srgbClr val="1B2A41"/>
                          </a:solidFill>
                        </a:rPr>
                        <a:t>$58,000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EEF3FB"/>
                    </a:solidFill>
                  </a:tcPr>
                </a:tc>
              </a:tr>
              <a:tr h="411480">
                <a:tc>
                  <a:txBody>
                    <a:bodyPr/>
                    <a:lstStyle/>
                    <a:p>
                      <a:pPr algn="l" indent="0" marL="0">
                        <a:buNone/>
                      </a:pPr>
                      <a:r>
                        <a:rPr lang="en-US" sz="1400" b="1" dirty="0">
                          <a:solidFill>
                            <a:srgbClr val="1B2A41"/>
                          </a:solidFill>
                        </a:rPr>
                        <a:t>$100,000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41"/>
                          </a:solidFill>
                        </a:rPr>
                        <a:t>$8,000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41"/>
                          </a:solidFill>
                        </a:rPr>
                        <a:t>$108,000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E3A8A"/>
                          </a:solidFill>
                        </a:rPr>
                        <a:t>$16,000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41"/>
                          </a:solidFill>
                        </a:rPr>
                        <a:t>$116,000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FFFFFF"/>
                    </a:solidFill>
                  </a:tcPr>
                </a:tc>
              </a:tr>
            </a:tbl>
          </a:graphicData>
        </a:graphic>
      </p:graphicFrame>
      <p:sp>
        <p:nvSpPr>
          <p:cNvPr id="13" name="Quarterly payouts callout box"/>
          <p:cNvSpPr/>
          <p:nvPr/>
        </p:nvSpPr>
        <p:spPr>
          <a:xfrm>
            <a:off x="3474720" y="3566160"/>
            <a:ext cx="5212080" cy="777240"/>
          </a:xfrm>
          <a:prstGeom prst="roundRect">
            <a:avLst>
              <a:gd name="adj" fmla="val 11765"/>
            </a:avLst>
          </a:prstGeom>
          <a:solidFill>
            <a:schemeClr val="bg2"/>
          </a:solidFill>
          <a:ln w="12700">
            <a:solidFill>
              <a:schemeClr val="bg2"/>
            </a:solidFill>
            <a:prstDash val="solid"/>
          </a:ln>
        </p:spPr>
      </p:sp>
      <p:sp>
        <p:nvSpPr>
          <p:cNvPr id="14" name="Text 11"/>
          <p:cNvSpPr txBox="1"/>
          <p:nvPr/>
        </p:nvSpPr>
        <p:spPr>
          <a:xfrm>
            <a:off x="3657600" y="3584448"/>
            <a:ext cx="4846320" cy="731520"/>
          </a:xfrm>
          <a:prstGeom prst="rect">
            <a:avLst/>
          </a:prstGeom>
          <a:noFill/>
          <a:ln/>
        </p:spPr>
        <p:txBody>
          <a:bodyPr wrap="square" lIns="0" tIns="0" rIns="0" bIns="0" rtlCol="0" anchor="ctr"/>
          <a:lstStyle/>
          <a:p>
            <a:pPr indent="0" marL="0">
              <a:buNone/>
            </a:pPr>
            <a:r>
              <a:rPr lang="en-US" sz="1400" b="1" dirty="0">
                <a:solidFill>
                  <a:schemeClr val="accent1"/>
                </a:solidFill>
              </a:rPr>
              <a:t>Example: </a:t>
            </a:r>
            <a:pPr indent="0" marL="0">
              <a:buNone/>
            </a:pPr>
            <a:r>
              <a:rPr lang="en-US" sz="1400" dirty="0">
                <a:solidFill>
                  <a:schemeClr val="tx1"/>
                </a:solidFill>
              </a:rPr>
              <a:t>$100,000 for 2 years earns </a:t>
            </a:r>
            <a:pPr indent="0" marL="0">
              <a:buNone/>
            </a:pPr>
            <a:r>
              <a:rPr lang="en-US" sz="1400" b="1" dirty="0">
                <a:solidFill>
                  <a:schemeClr val="tx1"/>
                </a:solidFill>
              </a:rPr>
              <a:t>$16,000 in earnings</a:t>
            </a:r>
            <a:pPr indent="0" marL="0">
              <a:buNone/>
            </a:pPr>
            <a:r>
              <a:rPr lang="en-US" sz="1400" dirty="0">
                <a:solidFill>
                  <a:schemeClr val="tx1"/>
                </a:solidFill>
              </a:rPr>
              <a:t> (8 payouts of $2,000), plus your $100,000 back at the end.</a:t>
            </a:r>
            <a:endParaRPr lang="en-US" sz="1400" dirty="0"/>
          </a:p>
        </p:txBody>
      </p:sp>
      <p:sp>
        <p:nvSpPr>
          <p:cNvPr id="15" name="Text 12"/>
          <p:cNvSpPr txBox="1"/>
          <p:nvPr/>
        </p:nvSpPr>
        <p:spPr>
          <a:xfrm>
            <a:off x="457200" y="4462272"/>
            <a:ext cx="8229600" cy="201168"/>
          </a:xfrm>
          <a:prstGeom prst="rect">
            <a:avLst/>
          </a:prstGeom>
          <a:noFill/>
          <a:ln/>
        </p:spPr>
        <p:txBody>
          <a:bodyPr wrap="square" lIns="0" tIns="0" rIns="0" bIns="0" rtlCol="0" anchor="ctr"/>
          <a:lstStyle/>
          <a:p>
            <a:pPr indent="0" marL="0">
              <a:buNone/>
            </a:pPr>
            <a:r>
              <a:rPr lang="en-US" sz="1000" i="1" dirty="0">
                <a:solidFill>
                  <a:schemeClr val="accent4"/>
                </a:solidFill>
              </a:rPr>
              <a:t>Earnings Only payouts shown. Illustrative figures; see the disclaimer at the end.</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3200" b="1" dirty="0">
                <a:solidFill>
                  <a:schemeClr val="accent1"/>
                </a:solidFill>
              </a:rPr>
              <a:t>Half-yearly payouts</a:t>
            </a:r>
            <a:endParaRPr lang="en-US" sz="3200" dirty="0"/>
          </a:p>
        </p:txBody>
      </p:sp>
      <p:sp>
        <p:nvSpPr>
          <p:cNvPr id="3" name="Text 1"/>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chemeClr val="tx1"/>
                </a:solidFill>
              </a:rPr>
              <a:t>Earnings every 6 months, 2 payouts a year, your full amount back at the end of the term</a:t>
            </a:r>
            <a:endParaRPr lang="en-US" sz="1400" dirty="0"/>
          </a:p>
        </p:txBody>
      </p:sp>
      <p:sp>
        <p:nvSpPr>
          <p:cNvPr id="4" name="Half-yearly payouts payout card"/>
          <p:cNvSpPr/>
          <p:nvPr/>
        </p:nvSpPr>
        <p:spPr>
          <a:xfrm>
            <a:off x="457200" y="1371600"/>
            <a:ext cx="2743200" cy="2971800"/>
          </a:xfrm>
          <a:prstGeom prst="roundRect">
            <a:avLst>
              <a:gd name="adj" fmla="val 4000"/>
            </a:avLst>
          </a:prstGeom>
          <a:solidFill>
            <a:schemeClr val="accent1"/>
          </a:solidFill>
          <a:ln w="12700">
            <a:solidFill>
              <a:schemeClr val="accent1"/>
            </a:solidFill>
            <a:prstDash val="solid"/>
          </a:ln>
        </p:spPr>
      </p:sp>
      <p:sp>
        <p:nvSpPr>
          <p:cNvPr id="5" name="Text 3"/>
          <p:cNvSpPr txBox="1"/>
          <p:nvPr/>
        </p:nvSpPr>
        <p:spPr>
          <a:xfrm>
            <a:off x="685800" y="1508760"/>
            <a:ext cx="2377440" cy="365760"/>
          </a:xfrm>
          <a:prstGeom prst="rect">
            <a:avLst/>
          </a:prstGeom>
          <a:noFill/>
          <a:ln/>
        </p:spPr>
        <p:txBody>
          <a:bodyPr wrap="square" lIns="0" tIns="0" rIns="0" bIns="0" rtlCol="0" anchor="ctr"/>
          <a:lstStyle/>
          <a:p>
            <a:pPr indent="0" marL="0">
              <a:buNone/>
            </a:pPr>
            <a:r>
              <a:rPr lang="en-US" sz="1600" b="1" dirty="0">
                <a:solidFill>
                  <a:schemeClr val="bg1"/>
                </a:solidFill>
              </a:rPr>
              <a:t>Every 6 months you receive</a:t>
            </a:r>
            <a:endParaRPr lang="en-US" sz="1600" dirty="0"/>
          </a:p>
        </p:txBody>
      </p:sp>
      <p:sp>
        <p:nvSpPr>
          <p:cNvPr id="6" name="Text 4"/>
          <p:cNvSpPr txBox="1"/>
          <p:nvPr/>
        </p:nvSpPr>
        <p:spPr>
          <a:xfrm>
            <a:off x="685800" y="1920240"/>
            <a:ext cx="2377440" cy="274320"/>
          </a:xfrm>
          <a:prstGeom prst="rect">
            <a:avLst/>
          </a:prstGeom>
          <a:noFill/>
          <a:ln/>
        </p:spPr>
        <p:txBody>
          <a:bodyPr wrap="square" lIns="0" tIns="0" rIns="0" bIns="0" rtlCol="0" anchor="ctr"/>
          <a:lstStyle/>
          <a:p>
            <a:pPr indent="0" marL="0">
              <a:buNone/>
            </a:pPr>
            <a:r>
              <a:rPr lang="en-US" sz="1400" dirty="0">
                <a:solidFill>
                  <a:schemeClr val="bg2"/>
                </a:solidFill>
              </a:rPr>
              <a:t>on $25,000</a:t>
            </a:r>
            <a:endParaRPr lang="en-US" sz="1400" dirty="0"/>
          </a:p>
        </p:txBody>
      </p:sp>
      <p:sp>
        <p:nvSpPr>
          <p:cNvPr id="7" name="Half-yearly payouts payout 25000"/>
          <p:cNvSpPr txBox="1"/>
          <p:nvPr/>
        </p:nvSpPr>
        <p:spPr>
          <a:xfrm>
            <a:off x="685800" y="2167128"/>
            <a:ext cx="2377440" cy="502920"/>
          </a:xfrm>
          <a:prstGeom prst="rect">
            <a:avLst/>
          </a:prstGeom>
          <a:noFill/>
          <a:ln/>
        </p:spPr>
        <p:txBody>
          <a:bodyPr wrap="square" lIns="0" tIns="0" rIns="0" bIns="0" rtlCol="0" anchor="ctr"/>
          <a:lstStyle/>
          <a:p>
            <a:pPr indent="0" marL="0">
              <a:buNone/>
            </a:pPr>
            <a:r>
              <a:rPr lang="en-US" sz="3000" b="1" dirty="0">
                <a:solidFill>
                  <a:schemeClr val="accent2"/>
                </a:solidFill>
              </a:rPr>
              <a:t>$1,125</a:t>
            </a:r>
            <a:endParaRPr lang="en-US" sz="3000" dirty="0"/>
          </a:p>
        </p:txBody>
      </p:sp>
      <p:sp>
        <p:nvSpPr>
          <p:cNvPr id="8" name="Text 6"/>
          <p:cNvSpPr txBox="1"/>
          <p:nvPr/>
        </p:nvSpPr>
        <p:spPr>
          <a:xfrm>
            <a:off x="685800" y="2724912"/>
            <a:ext cx="2377440" cy="274320"/>
          </a:xfrm>
          <a:prstGeom prst="rect">
            <a:avLst/>
          </a:prstGeom>
          <a:noFill/>
          <a:ln/>
        </p:spPr>
        <p:txBody>
          <a:bodyPr wrap="square" lIns="0" tIns="0" rIns="0" bIns="0" rtlCol="0" anchor="ctr"/>
          <a:lstStyle/>
          <a:p>
            <a:pPr indent="0" marL="0">
              <a:buNone/>
            </a:pPr>
            <a:r>
              <a:rPr lang="en-US" sz="1400" dirty="0">
                <a:solidFill>
                  <a:schemeClr val="bg2"/>
                </a:solidFill>
              </a:rPr>
              <a:t>on $50,000</a:t>
            </a:r>
            <a:endParaRPr lang="en-US" sz="1400" dirty="0"/>
          </a:p>
        </p:txBody>
      </p:sp>
      <p:sp>
        <p:nvSpPr>
          <p:cNvPr id="9" name="Half-yearly payouts payout 50000"/>
          <p:cNvSpPr txBox="1"/>
          <p:nvPr/>
        </p:nvSpPr>
        <p:spPr>
          <a:xfrm>
            <a:off x="685800" y="2971800"/>
            <a:ext cx="2377440" cy="502920"/>
          </a:xfrm>
          <a:prstGeom prst="rect">
            <a:avLst/>
          </a:prstGeom>
          <a:noFill/>
          <a:ln/>
        </p:spPr>
        <p:txBody>
          <a:bodyPr wrap="square" lIns="0" tIns="0" rIns="0" bIns="0" rtlCol="0" anchor="ctr"/>
          <a:lstStyle/>
          <a:p>
            <a:pPr indent="0" marL="0">
              <a:buNone/>
            </a:pPr>
            <a:r>
              <a:rPr lang="en-US" sz="3000" b="1" dirty="0">
                <a:solidFill>
                  <a:schemeClr val="accent2"/>
                </a:solidFill>
              </a:rPr>
              <a:t>$2,250</a:t>
            </a:r>
            <a:endParaRPr lang="en-US" sz="3000" dirty="0"/>
          </a:p>
        </p:txBody>
      </p:sp>
      <p:sp>
        <p:nvSpPr>
          <p:cNvPr id="10" name="Text 8"/>
          <p:cNvSpPr txBox="1"/>
          <p:nvPr/>
        </p:nvSpPr>
        <p:spPr>
          <a:xfrm>
            <a:off x="685800" y="3529584"/>
            <a:ext cx="2377440" cy="274320"/>
          </a:xfrm>
          <a:prstGeom prst="rect">
            <a:avLst/>
          </a:prstGeom>
          <a:noFill/>
          <a:ln/>
        </p:spPr>
        <p:txBody>
          <a:bodyPr wrap="square" lIns="0" tIns="0" rIns="0" bIns="0" rtlCol="0" anchor="ctr"/>
          <a:lstStyle/>
          <a:p>
            <a:pPr indent="0" marL="0">
              <a:buNone/>
            </a:pPr>
            <a:r>
              <a:rPr lang="en-US" sz="1400" dirty="0">
                <a:solidFill>
                  <a:schemeClr val="bg2"/>
                </a:solidFill>
              </a:rPr>
              <a:t>on $100,000</a:t>
            </a:r>
            <a:endParaRPr lang="en-US" sz="1400" dirty="0"/>
          </a:p>
        </p:txBody>
      </p:sp>
      <p:sp>
        <p:nvSpPr>
          <p:cNvPr id="11" name="Half-yearly payouts payout 100000"/>
          <p:cNvSpPr txBox="1"/>
          <p:nvPr/>
        </p:nvSpPr>
        <p:spPr>
          <a:xfrm>
            <a:off x="685800" y="3776472"/>
            <a:ext cx="2377440" cy="502920"/>
          </a:xfrm>
          <a:prstGeom prst="rect">
            <a:avLst/>
          </a:prstGeom>
          <a:noFill/>
          <a:ln/>
        </p:spPr>
        <p:txBody>
          <a:bodyPr wrap="square" lIns="0" tIns="0" rIns="0" bIns="0" rtlCol="0" anchor="ctr"/>
          <a:lstStyle/>
          <a:p>
            <a:pPr indent="0" marL="0">
              <a:buNone/>
            </a:pPr>
            <a:r>
              <a:rPr lang="en-US" sz="3000" b="1" dirty="0">
                <a:solidFill>
                  <a:schemeClr val="accent2"/>
                </a:solidFill>
              </a:rPr>
              <a:t>$4,500</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474720" y="1371600"/>
          <a:ext cx="5212080" cy="914400"/>
        </p:xfrm>
        <a:graphic>
          <a:graphicData uri="http://schemas.openxmlformats.org/drawingml/2006/table">
            <a:tbl>
              <a:tblPr/>
              <a:tblGrid>
                <a:gridCol w="1188720"/>
                <a:gridCol w="960120"/>
                <a:gridCol w="1051560"/>
                <a:gridCol w="960120"/>
                <a:gridCol w="1051560"/>
              </a:tblGrid>
              <a:tr h="411480">
                <a:tc rowSpan="2">
                  <a:txBody>
                    <a:bodyPr/>
                    <a:lstStyle/>
                    <a:p>
                      <a:pPr algn="l" indent="0" marL="0">
                        <a:buNone/>
                      </a:pPr>
                      <a:r>
                        <a:rPr lang="en-US" sz="1300" b="1" dirty="0">
                          <a:solidFill>
                            <a:srgbClr val="FFFFFF"/>
                          </a:solidFill>
                        </a:rPr>
                        <a:t>Investment</a:t>
                      </a:r>
                      <a:endParaRPr lang="en-US" sz="13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16285A"/>
                    </a:solidFill>
                  </a:tcPr>
                </a:tc>
                <a:tc gridSpan="2">
                  <a:txBody>
                    <a:bodyPr/>
                    <a:lstStyle/>
                    <a:p>
                      <a:pPr algn="ctr" indent="0" marL="0">
                        <a:buNone/>
                      </a:pPr>
                      <a:r>
                        <a:rPr lang="en-US" sz="1300" b="1" dirty="0">
                          <a:solidFill>
                            <a:srgbClr val="FFFFFF"/>
                          </a:solidFill>
                        </a:rPr>
                        <a:t>1-year term (2 payouts)</a:t>
                      </a:r>
                      <a:endParaRPr lang="en-US" sz="13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16285A"/>
                    </a:solidFill>
                  </a:tcPr>
                </a:tc>
                <a:tc hMerge="1">
                  <a:tcPr/>
                </a:tc>
                <a:tc gridSpan="2">
                  <a:txBody>
                    <a:bodyPr/>
                    <a:lstStyle/>
                    <a:p>
                      <a:pPr algn="ctr" indent="0" marL="0">
                        <a:buNone/>
                      </a:pPr>
                      <a:r>
                        <a:rPr lang="en-US" sz="1300" b="1" dirty="0">
                          <a:solidFill>
                            <a:srgbClr val="FFFFFF"/>
                          </a:solidFill>
                        </a:rPr>
                        <a:t>2-year term (4 payouts)</a:t>
                      </a:r>
                      <a:endParaRPr lang="en-US" sz="13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16285A"/>
                    </a:solidFill>
                  </a:tcPr>
                </a:tc>
                <a:tc hMerge="1">
                  <a:tcPr/>
                </a:tc>
              </a:tr>
              <a:tr h="365760">
                <a:tc vMerge="1">
                  <a:tcPr/>
                </a:tc>
                <a:tc>
                  <a:txBody>
                    <a:bodyPr/>
                    <a:lstStyle/>
                    <a:p>
                      <a:pPr algn="ctr" indent="0" marL="0">
                        <a:buNone/>
                      </a:pPr>
                      <a:r>
                        <a:rPr lang="en-US" sz="1200" b="1" dirty="0">
                          <a:solidFill>
                            <a:srgbClr val="16285A"/>
                          </a:solidFill>
                        </a:rPr>
                        <a:t>Earnings</a:t>
                      </a:r>
                      <a:endParaRPr lang="en-US" sz="12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DCE6F5"/>
                    </a:solidFill>
                  </a:tcPr>
                </a:tc>
                <a:tc>
                  <a:txBody>
                    <a:bodyPr/>
                    <a:lstStyle/>
                    <a:p>
                      <a:pPr algn="ctr" indent="0" marL="0">
                        <a:buNone/>
                      </a:pPr>
                      <a:r>
                        <a:rPr lang="en-US" sz="1200" b="1" dirty="0">
                          <a:solidFill>
                            <a:srgbClr val="16285A"/>
                          </a:solidFill>
                        </a:rPr>
                        <a:t>You receive</a:t>
                      </a:r>
                      <a:endParaRPr lang="en-US" sz="12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DCE6F5"/>
                    </a:solidFill>
                  </a:tcPr>
                </a:tc>
                <a:tc>
                  <a:txBody>
                    <a:bodyPr/>
                    <a:lstStyle/>
                    <a:p>
                      <a:pPr algn="ctr" indent="0" marL="0">
                        <a:buNone/>
                      </a:pPr>
                      <a:r>
                        <a:rPr lang="en-US" sz="1200" b="1" dirty="0">
                          <a:solidFill>
                            <a:srgbClr val="16285A"/>
                          </a:solidFill>
                        </a:rPr>
                        <a:t>Earnings</a:t>
                      </a:r>
                      <a:endParaRPr lang="en-US" sz="12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DCE6F5"/>
                    </a:solidFill>
                  </a:tcPr>
                </a:tc>
                <a:tc>
                  <a:txBody>
                    <a:bodyPr/>
                    <a:lstStyle/>
                    <a:p>
                      <a:pPr algn="ctr" indent="0" marL="0">
                        <a:buNone/>
                      </a:pPr>
                      <a:r>
                        <a:rPr lang="en-US" sz="1200" b="1" dirty="0">
                          <a:solidFill>
                            <a:srgbClr val="16285A"/>
                          </a:solidFill>
                        </a:rPr>
                        <a:t>You receive</a:t>
                      </a:r>
                      <a:endParaRPr lang="en-US" sz="12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DCE6F5"/>
                    </a:solidFill>
                  </a:tcPr>
                </a:tc>
              </a:tr>
              <a:tr h="411480">
                <a:tc>
                  <a:txBody>
                    <a:bodyPr/>
                    <a:lstStyle/>
                    <a:p>
                      <a:pPr algn="l" indent="0" marL="0">
                        <a:buNone/>
                      </a:pPr>
                      <a:r>
                        <a:rPr lang="en-US" sz="1400" b="1" dirty="0">
                          <a:solidFill>
                            <a:srgbClr val="1B2A41"/>
                          </a:solidFill>
                        </a:rPr>
                        <a:t>$25,000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41"/>
                          </a:solidFill>
                        </a:rPr>
                        <a:t>$2,250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41"/>
                          </a:solidFill>
                        </a:rPr>
                        <a:t>$27,250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E3A8A"/>
                          </a:solidFill>
                        </a:rPr>
                        <a:t>$4,500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41"/>
                          </a:solidFill>
                        </a:rPr>
                        <a:t>$29,500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FFFFFF"/>
                    </a:solidFill>
                  </a:tcPr>
                </a:tc>
              </a:tr>
              <a:tr h="411480">
                <a:tc>
                  <a:txBody>
                    <a:bodyPr/>
                    <a:lstStyle/>
                    <a:p>
                      <a:pPr algn="l" indent="0" marL="0">
                        <a:buNone/>
                      </a:pPr>
                      <a:r>
                        <a:rPr lang="en-US" sz="1400" b="1" dirty="0">
                          <a:solidFill>
                            <a:srgbClr val="1B2A41"/>
                          </a:solidFill>
                        </a:rPr>
                        <a:t>$50,000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EEF3FB"/>
                    </a:solidFill>
                  </a:tcPr>
                </a:tc>
                <a:tc>
                  <a:txBody>
                    <a:bodyPr/>
                    <a:lstStyle/>
                    <a:p>
                      <a:pPr algn="r" indent="0" marL="0">
                        <a:buNone/>
                      </a:pPr>
                      <a:r>
                        <a:rPr lang="en-US" sz="1400" dirty="0">
                          <a:solidFill>
                            <a:srgbClr val="1B2A41"/>
                          </a:solidFill>
                        </a:rPr>
                        <a:t>$4,500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EEF3FB"/>
                    </a:solidFill>
                  </a:tcPr>
                </a:tc>
                <a:tc>
                  <a:txBody>
                    <a:bodyPr/>
                    <a:lstStyle/>
                    <a:p>
                      <a:pPr algn="r" indent="0" marL="0">
                        <a:buNone/>
                      </a:pPr>
                      <a:r>
                        <a:rPr lang="en-US" sz="1400" dirty="0">
                          <a:solidFill>
                            <a:srgbClr val="1B2A41"/>
                          </a:solidFill>
                        </a:rPr>
                        <a:t>$54,500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EEF3FB"/>
                    </a:solidFill>
                  </a:tcPr>
                </a:tc>
                <a:tc>
                  <a:txBody>
                    <a:bodyPr/>
                    <a:lstStyle/>
                    <a:p>
                      <a:pPr algn="r" indent="0" marL="0">
                        <a:buNone/>
                      </a:pPr>
                      <a:r>
                        <a:rPr lang="en-US" sz="1400" b="1" dirty="0">
                          <a:solidFill>
                            <a:srgbClr val="1E3A8A"/>
                          </a:solidFill>
                        </a:rPr>
                        <a:t>$9,000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EEF3FB"/>
                    </a:solidFill>
                  </a:tcPr>
                </a:tc>
                <a:tc>
                  <a:txBody>
                    <a:bodyPr/>
                    <a:lstStyle/>
                    <a:p>
                      <a:pPr algn="r" indent="0" marL="0">
                        <a:buNone/>
                      </a:pPr>
                      <a:r>
                        <a:rPr lang="en-US" sz="1400" dirty="0">
                          <a:solidFill>
                            <a:srgbClr val="1B2A41"/>
                          </a:solidFill>
                        </a:rPr>
                        <a:t>$59,000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EEF3FB"/>
                    </a:solidFill>
                  </a:tcPr>
                </a:tc>
              </a:tr>
              <a:tr h="411480">
                <a:tc>
                  <a:txBody>
                    <a:bodyPr/>
                    <a:lstStyle/>
                    <a:p>
                      <a:pPr algn="l" indent="0" marL="0">
                        <a:buNone/>
                      </a:pPr>
                      <a:r>
                        <a:rPr lang="en-US" sz="1400" b="1" dirty="0">
                          <a:solidFill>
                            <a:srgbClr val="1B2A41"/>
                          </a:solidFill>
                        </a:rPr>
                        <a:t>$100,000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41"/>
                          </a:solidFill>
                        </a:rPr>
                        <a:t>$9,000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41"/>
                          </a:solidFill>
                        </a:rPr>
                        <a:t>$109,000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E3A8A"/>
                          </a:solidFill>
                        </a:rPr>
                        <a:t>$18,000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41"/>
                          </a:solidFill>
                        </a:rPr>
                        <a:t>$118,000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FFFFFF"/>
                    </a:solidFill>
                  </a:tcPr>
                </a:tc>
              </a:tr>
            </a:tbl>
          </a:graphicData>
        </a:graphic>
      </p:graphicFrame>
      <p:sp>
        <p:nvSpPr>
          <p:cNvPr id="13" name="Half-yearly payouts callout box"/>
          <p:cNvSpPr/>
          <p:nvPr/>
        </p:nvSpPr>
        <p:spPr>
          <a:xfrm>
            <a:off x="3474720" y="3566160"/>
            <a:ext cx="5212080" cy="777240"/>
          </a:xfrm>
          <a:prstGeom prst="roundRect">
            <a:avLst>
              <a:gd name="adj" fmla="val 11765"/>
            </a:avLst>
          </a:prstGeom>
          <a:solidFill>
            <a:schemeClr val="bg2"/>
          </a:solidFill>
          <a:ln w="12700">
            <a:solidFill>
              <a:schemeClr val="bg2"/>
            </a:solidFill>
            <a:prstDash val="solid"/>
          </a:ln>
        </p:spPr>
      </p:sp>
      <p:sp>
        <p:nvSpPr>
          <p:cNvPr id="14" name="Text 11"/>
          <p:cNvSpPr txBox="1"/>
          <p:nvPr/>
        </p:nvSpPr>
        <p:spPr>
          <a:xfrm>
            <a:off x="3657600" y="3584448"/>
            <a:ext cx="4846320" cy="731520"/>
          </a:xfrm>
          <a:prstGeom prst="rect">
            <a:avLst/>
          </a:prstGeom>
          <a:noFill/>
          <a:ln/>
        </p:spPr>
        <p:txBody>
          <a:bodyPr wrap="square" lIns="0" tIns="0" rIns="0" bIns="0" rtlCol="0" anchor="ctr"/>
          <a:lstStyle/>
          <a:p>
            <a:pPr indent="0" marL="0">
              <a:buNone/>
            </a:pPr>
            <a:r>
              <a:rPr lang="en-US" sz="1400" b="1" dirty="0">
                <a:solidFill>
                  <a:schemeClr val="accent1"/>
                </a:solidFill>
              </a:rPr>
              <a:t>Example: </a:t>
            </a:r>
            <a:pPr indent="0" marL="0">
              <a:buNone/>
            </a:pPr>
            <a:r>
              <a:rPr lang="en-US" sz="1400" dirty="0">
                <a:solidFill>
                  <a:schemeClr val="tx1"/>
                </a:solidFill>
              </a:rPr>
              <a:t>$100,000 for 2 years earns </a:t>
            </a:r>
            <a:pPr indent="0" marL="0">
              <a:buNone/>
            </a:pPr>
            <a:r>
              <a:rPr lang="en-US" sz="1400" b="1" dirty="0">
                <a:solidFill>
                  <a:schemeClr val="tx1"/>
                </a:solidFill>
              </a:rPr>
              <a:t>$18,000 in earnings</a:t>
            </a:r>
            <a:pPr indent="0" marL="0">
              <a:buNone/>
            </a:pPr>
            <a:r>
              <a:rPr lang="en-US" sz="1400" dirty="0">
                <a:solidFill>
                  <a:schemeClr val="tx1"/>
                </a:solidFill>
              </a:rPr>
              <a:t> (4 payouts of $4,500), plus your $100,000 back at the end.</a:t>
            </a:r>
            <a:endParaRPr lang="en-US" sz="1400" dirty="0"/>
          </a:p>
        </p:txBody>
      </p:sp>
      <p:sp>
        <p:nvSpPr>
          <p:cNvPr id="15" name="Text 12"/>
          <p:cNvSpPr txBox="1"/>
          <p:nvPr/>
        </p:nvSpPr>
        <p:spPr>
          <a:xfrm>
            <a:off x="457200" y="4462272"/>
            <a:ext cx="8229600" cy="201168"/>
          </a:xfrm>
          <a:prstGeom prst="rect">
            <a:avLst/>
          </a:prstGeom>
          <a:noFill/>
          <a:ln/>
        </p:spPr>
        <p:txBody>
          <a:bodyPr wrap="square" lIns="0" tIns="0" rIns="0" bIns="0" rtlCol="0" anchor="ctr"/>
          <a:lstStyle/>
          <a:p>
            <a:pPr indent="0" marL="0">
              <a:buNone/>
            </a:pPr>
            <a:r>
              <a:rPr lang="en-US" sz="1000" i="1" dirty="0">
                <a:solidFill>
                  <a:schemeClr val="accent4"/>
                </a:solidFill>
              </a:rPr>
              <a:t>Earnings Only payouts shown. Illustrative figures; see the disclaimer at the end.</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3200" b="1" dirty="0">
                <a:solidFill>
                  <a:schemeClr val="accent1"/>
                </a:solidFill>
              </a:rPr>
              <a:t>Yearly payouts</a:t>
            </a:r>
            <a:endParaRPr lang="en-US" sz="3200" dirty="0"/>
          </a:p>
        </p:txBody>
      </p:sp>
      <p:sp>
        <p:nvSpPr>
          <p:cNvPr id="3" name="Text 1"/>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400" dirty="0">
                <a:solidFill>
                  <a:schemeClr val="tx1"/>
                </a:solidFill>
              </a:rPr>
              <a:t>Earnings once a year, 1 payout a year, your full amount back at the end of the term</a:t>
            </a:r>
            <a:endParaRPr lang="en-US" sz="1400" dirty="0"/>
          </a:p>
        </p:txBody>
      </p:sp>
      <p:sp>
        <p:nvSpPr>
          <p:cNvPr id="4" name="Yearly payouts payout card"/>
          <p:cNvSpPr/>
          <p:nvPr/>
        </p:nvSpPr>
        <p:spPr>
          <a:xfrm>
            <a:off x="457200" y="1371600"/>
            <a:ext cx="2743200" cy="2971800"/>
          </a:xfrm>
          <a:prstGeom prst="roundRect">
            <a:avLst>
              <a:gd name="adj" fmla="val 4000"/>
            </a:avLst>
          </a:prstGeom>
          <a:solidFill>
            <a:schemeClr val="accent1"/>
          </a:solidFill>
          <a:ln w="12700">
            <a:solidFill>
              <a:schemeClr val="accent1"/>
            </a:solidFill>
            <a:prstDash val="solid"/>
          </a:ln>
        </p:spPr>
      </p:sp>
      <p:sp>
        <p:nvSpPr>
          <p:cNvPr id="5" name="Text 3"/>
          <p:cNvSpPr txBox="1"/>
          <p:nvPr/>
        </p:nvSpPr>
        <p:spPr>
          <a:xfrm>
            <a:off x="685800" y="1508760"/>
            <a:ext cx="2377440" cy="365760"/>
          </a:xfrm>
          <a:prstGeom prst="rect">
            <a:avLst/>
          </a:prstGeom>
          <a:noFill/>
          <a:ln/>
        </p:spPr>
        <p:txBody>
          <a:bodyPr wrap="square" lIns="0" tIns="0" rIns="0" bIns="0" rtlCol="0" anchor="ctr"/>
          <a:lstStyle/>
          <a:p>
            <a:pPr indent="0" marL="0">
              <a:buNone/>
            </a:pPr>
            <a:r>
              <a:rPr lang="en-US" sz="1600" b="1" dirty="0">
                <a:solidFill>
                  <a:schemeClr val="bg1"/>
                </a:solidFill>
              </a:rPr>
              <a:t>Every year you receive</a:t>
            </a:r>
            <a:endParaRPr lang="en-US" sz="1600" dirty="0"/>
          </a:p>
        </p:txBody>
      </p:sp>
      <p:sp>
        <p:nvSpPr>
          <p:cNvPr id="6" name="Text 4"/>
          <p:cNvSpPr txBox="1"/>
          <p:nvPr/>
        </p:nvSpPr>
        <p:spPr>
          <a:xfrm>
            <a:off x="685800" y="1920240"/>
            <a:ext cx="2377440" cy="274320"/>
          </a:xfrm>
          <a:prstGeom prst="rect">
            <a:avLst/>
          </a:prstGeom>
          <a:noFill/>
          <a:ln/>
        </p:spPr>
        <p:txBody>
          <a:bodyPr wrap="square" lIns="0" tIns="0" rIns="0" bIns="0" rtlCol="0" anchor="ctr"/>
          <a:lstStyle/>
          <a:p>
            <a:pPr indent="0" marL="0">
              <a:buNone/>
            </a:pPr>
            <a:r>
              <a:rPr lang="en-US" sz="1400" dirty="0">
                <a:solidFill>
                  <a:schemeClr val="bg2"/>
                </a:solidFill>
              </a:rPr>
              <a:t>on $25,000</a:t>
            </a:r>
            <a:endParaRPr lang="en-US" sz="1400" dirty="0"/>
          </a:p>
        </p:txBody>
      </p:sp>
      <p:sp>
        <p:nvSpPr>
          <p:cNvPr id="7" name="Yearly payouts payout 25000"/>
          <p:cNvSpPr txBox="1"/>
          <p:nvPr/>
        </p:nvSpPr>
        <p:spPr>
          <a:xfrm>
            <a:off x="685800" y="2167128"/>
            <a:ext cx="2377440" cy="502920"/>
          </a:xfrm>
          <a:prstGeom prst="rect">
            <a:avLst/>
          </a:prstGeom>
          <a:noFill/>
          <a:ln/>
        </p:spPr>
        <p:txBody>
          <a:bodyPr wrap="square" lIns="0" tIns="0" rIns="0" bIns="0" rtlCol="0" anchor="ctr"/>
          <a:lstStyle/>
          <a:p>
            <a:pPr indent="0" marL="0">
              <a:buNone/>
            </a:pPr>
            <a:r>
              <a:rPr lang="en-US" sz="3000" b="1" dirty="0">
                <a:solidFill>
                  <a:schemeClr val="accent2"/>
                </a:solidFill>
              </a:rPr>
              <a:t>$2,500</a:t>
            </a:r>
            <a:endParaRPr lang="en-US" sz="3000" dirty="0"/>
          </a:p>
        </p:txBody>
      </p:sp>
      <p:sp>
        <p:nvSpPr>
          <p:cNvPr id="8" name="Text 6"/>
          <p:cNvSpPr txBox="1"/>
          <p:nvPr/>
        </p:nvSpPr>
        <p:spPr>
          <a:xfrm>
            <a:off x="685800" y="2724912"/>
            <a:ext cx="2377440" cy="274320"/>
          </a:xfrm>
          <a:prstGeom prst="rect">
            <a:avLst/>
          </a:prstGeom>
          <a:noFill/>
          <a:ln/>
        </p:spPr>
        <p:txBody>
          <a:bodyPr wrap="square" lIns="0" tIns="0" rIns="0" bIns="0" rtlCol="0" anchor="ctr"/>
          <a:lstStyle/>
          <a:p>
            <a:pPr indent="0" marL="0">
              <a:buNone/>
            </a:pPr>
            <a:r>
              <a:rPr lang="en-US" sz="1400" dirty="0">
                <a:solidFill>
                  <a:schemeClr val="bg2"/>
                </a:solidFill>
              </a:rPr>
              <a:t>on $50,000</a:t>
            </a:r>
            <a:endParaRPr lang="en-US" sz="1400" dirty="0"/>
          </a:p>
        </p:txBody>
      </p:sp>
      <p:sp>
        <p:nvSpPr>
          <p:cNvPr id="9" name="Yearly payouts payout 50000"/>
          <p:cNvSpPr txBox="1"/>
          <p:nvPr/>
        </p:nvSpPr>
        <p:spPr>
          <a:xfrm>
            <a:off x="685800" y="2971800"/>
            <a:ext cx="2377440" cy="502920"/>
          </a:xfrm>
          <a:prstGeom prst="rect">
            <a:avLst/>
          </a:prstGeom>
          <a:noFill/>
          <a:ln/>
        </p:spPr>
        <p:txBody>
          <a:bodyPr wrap="square" lIns="0" tIns="0" rIns="0" bIns="0" rtlCol="0" anchor="ctr"/>
          <a:lstStyle/>
          <a:p>
            <a:pPr indent="0" marL="0">
              <a:buNone/>
            </a:pPr>
            <a:r>
              <a:rPr lang="en-US" sz="3000" b="1" dirty="0">
                <a:solidFill>
                  <a:schemeClr val="accent2"/>
                </a:solidFill>
              </a:rPr>
              <a:t>$5,000</a:t>
            </a:r>
            <a:endParaRPr lang="en-US" sz="3000" dirty="0"/>
          </a:p>
        </p:txBody>
      </p:sp>
      <p:sp>
        <p:nvSpPr>
          <p:cNvPr id="10" name="Text 8"/>
          <p:cNvSpPr txBox="1"/>
          <p:nvPr/>
        </p:nvSpPr>
        <p:spPr>
          <a:xfrm>
            <a:off x="685800" y="3529584"/>
            <a:ext cx="2377440" cy="274320"/>
          </a:xfrm>
          <a:prstGeom prst="rect">
            <a:avLst/>
          </a:prstGeom>
          <a:noFill/>
          <a:ln/>
        </p:spPr>
        <p:txBody>
          <a:bodyPr wrap="square" lIns="0" tIns="0" rIns="0" bIns="0" rtlCol="0" anchor="ctr"/>
          <a:lstStyle/>
          <a:p>
            <a:pPr indent="0" marL="0">
              <a:buNone/>
            </a:pPr>
            <a:r>
              <a:rPr lang="en-US" sz="1400" dirty="0">
                <a:solidFill>
                  <a:schemeClr val="bg2"/>
                </a:solidFill>
              </a:rPr>
              <a:t>on $100,000</a:t>
            </a:r>
            <a:endParaRPr lang="en-US" sz="1400" dirty="0"/>
          </a:p>
        </p:txBody>
      </p:sp>
      <p:sp>
        <p:nvSpPr>
          <p:cNvPr id="11" name="Yearly payouts payout 100000"/>
          <p:cNvSpPr txBox="1"/>
          <p:nvPr/>
        </p:nvSpPr>
        <p:spPr>
          <a:xfrm>
            <a:off x="685800" y="3776472"/>
            <a:ext cx="2377440" cy="502920"/>
          </a:xfrm>
          <a:prstGeom prst="rect">
            <a:avLst/>
          </a:prstGeom>
          <a:noFill/>
          <a:ln/>
        </p:spPr>
        <p:txBody>
          <a:bodyPr wrap="square" lIns="0" tIns="0" rIns="0" bIns="0" rtlCol="0" anchor="ctr"/>
          <a:lstStyle/>
          <a:p>
            <a:pPr indent="0" marL="0">
              <a:buNone/>
            </a:pPr>
            <a:r>
              <a:rPr lang="en-US" sz="3000" b="1" dirty="0">
                <a:solidFill>
                  <a:schemeClr val="accent2"/>
                </a:solidFill>
              </a:rPr>
              <a:t>$10,000</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474720" y="1371600"/>
          <a:ext cx="5212080" cy="914400"/>
        </p:xfrm>
        <a:graphic>
          <a:graphicData uri="http://schemas.openxmlformats.org/drawingml/2006/table">
            <a:tbl>
              <a:tblPr/>
              <a:tblGrid>
                <a:gridCol w="1188720"/>
                <a:gridCol w="960120"/>
                <a:gridCol w="1051560"/>
                <a:gridCol w="960120"/>
                <a:gridCol w="1051560"/>
              </a:tblGrid>
              <a:tr h="411480">
                <a:tc rowSpan="2">
                  <a:txBody>
                    <a:bodyPr/>
                    <a:lstStyle/>
                    <a:p>
                      <a:pPr algn="l" indent="0" marL="0">
                        <a:buNone/>
                      </a:pPr>
                      <a:r>
                        <a:rPr lang="en-US" sz="1300" b="1" dirty="0">
                          <a:solidFill>
                            <a:srgbClr val="FFFFFF"/>
                          </a:solidFill>
                        </a:rPr>
                        <a:t>Investment</a:t>
                      </a:r>
                      <a:endParaRPr lang="en-US" sz="13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16285A"/>
                    </a:solidFill>
                  </a:tcPr>
                </a:tc>
                <a:tc gridSpan="2">
                  <a:txBody>
                    <a:bodyPr/>
                    <a:lstStyle/>
                    <a:p>
                      <a:pPr algn="ctr" indent="0" marL="0">
                        <a:buNone/>
                      </a:pPr>
                      <a:r>
                        <a:rPr lang="en-US" sz="1300" b="1" dirty="0">
                          <a:solidFill>
                            <a:srgbClr val="FFFFFF"/>
                          </a:solidFill>
                        </a:rPr>
                        <a:t>1-year term (1 payout)</a:t>
                      </a:r>
                      <a:endParaRPr lang="en-US" sz="13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16285A"/>
                    </a:solidFill>
                  </a:tcPr>
                </a:tc>
                <a:tc hMerge="1">
                  <a:tcPr/>
                </a:tc>
                <a:tc gridSpan="2">
                  <a:txBody>
                    <a:bodyPr/>
                    <a:lstStyle/>
                    <a:p>
                      <a:pPr algn="ctr" indent="0" marL="0">
                        <a:buNone/>
                      </a:pPr>
                      <a:r>
                        <a:rPr lang="en-US" sz="1300" b="1" dirty="0">
                          <a:solidFill>
                            <a:srgbClr val="FFFFFF"/>
                          </a:solidFill>
                        </a:rPr>
                        <a:t>2-year term (2 payouts)</a:t>
                      </a:r>
                      <a:endParaRPr lang="en-US" sz="13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16285A"/>
                    </a:solidFill>
                  </a:tcPr>
                </a:tc>
                <a:tc hMerge="1">
                  <a:tcPr/>
                </a:tc>
              </a:tr>
              <a:tr h="365760">
                <a:tc vMerge="1">
                  <a:tcPr/>
                </a:tc>
                <a:tc>
                  <a:txBody>
                    <a:bodyPr/>
                    <a:lstStyle/>
                    <a:p>
                      <a:pPr algn="ctr" indent="0" marL="0">
                        <a:buNone/>
                      </a:pPr>
                      <a:r>
                        <a:rPr lang="en-US" sz="1200" b="1" dirty="0">
                          <a:solidFill>
                            <a:srgbClr val="16285A"/>
                          </a:solidFill>
                        </a:rPr>
                        <a:t>Earnings</a:t>
                      </a:r>
                      <a:endParaRPr lang="en-US" sz="12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DCE6F5"/>
                    </a:solidFill>
                  </a:tcPr>
                </a:tc>
                <a:tc>
                  <a:txBody>
                    <a:bodyPr/>
                    <a:lstStyle/>
                    <a:p>
                      <a:pPr algn="ctr" indent="0" marL="0">
                        <a:buNone/>
                      </a:pPr>
                      <a:r>
                        <a:rPr lang="en-US" sz="1200" b="1" dirty="0">
                          <a:solidFill>
                            <a:srgbClr val="16285A"/>
                          </a:solidFill>
                        </a:rPr>
                        <a:t>You receive</a:t>
                      </a:r>
                      <a:endParaRPr lang="en-US" sz="12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DCE6F5"/>
                    </a:solidFill>
                  </a:tcPr>
                </a:tc>
                <a:tc>
                  <a:txBody>
                    <a:bodyPr/>
                    <a:lstStyle/>
                    <a:p>
                      <a:pPr algn="ctr" indent="0" marL="0">
                        <a:buNone/>
                      </a:pPr>
                      <a:r>
                        <a:rPr lang="en-US" sz="1200" b="1" dirty="0">
                          <a:solidFill>
                            <a:srgbClr val="16285A"/>
                          </a:solidFill>
                        </a:rPr>
                        <a:t>Earnings</a:t>
                      </a:r>
                      <a:endParaRPr lang="en-US" sz="12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DCE6F5"/>
                    </a:solidFill>
                  </a:tcPr>
                </a:tc>
                <a:tc>
                  <a:txBody>
                    <a:bodyPr/>
                    <a:lstStyle/>
                    <a:p>
                      <a:pPr algn="ctr" indent="0" marL="0">
                        <a:buNone/>
                      </a:pPr>
                      <a:r>
                        <a:rPr lang="en-US" sz="1200" b="1" dirty="0">
                          <a:solidFill>
                            <a:srgbClr val="16285A"/>
                          </a:solidFill>
                        </a:rPr>
                        <a:t>You receive</a:t>
                      </a:r>
                      <a:endParaRPr lang="en-US" sz="12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DCE6F5"/>
                    </a:solidFill>
                  </a:tcPr>
                </a:tc>
              </a:tr>
              <a:tr h="411480">
                <a:tc>
                  <a:txBody>
                    <a:bodyPr/>
                    <a:lstStyle/>
                    <a:p>
                      <a:pPr algn="l" indent="0" marL="0">
                        <a:buNone/>
                      </a:pPr>
                      <a:r>
                        <a:rPr lang="en-US" sz="1400" b="1" dirty="0">
                          <a:solidFill>
                            <a:srgbClr val="1B2A41"/>
                          </a:solidFill>
                        </a:rPr>
                        <a:t>$25,000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41"/>
                          </a:solidFill>
                        </a:rPr>
                        <a:t>$2,500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41"/>
                          </a:solidFill>
                        </a:rPr>
                        <a:t>$27,500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E3A8A"/>
                          </a:solidFill>
                        </a:rPr>
                        <a:t>$5,000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41"/>
                          </a:solidFill>
                        </a:rPr>
                        <a:t>$30,000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FFFFFF"/>
                    </a:solidFill>
                  </a:tcPr>
                </a:tc>
              </a:tr>
              <a:tr h="411480">
                <a:tc>
                  <a:txBody>
                    <a:bodyPr/>
                    <a:lstStyle/>
                    <a:p>
                      <a:pPr algn="l" indent="0" marL="0">
                        <a:buNone/>
                      </a:pPr>
                      <a:r>
                        <a:rPr lang="en-US" sz="1400" b="1" dirty="0">
                          <a:solidFill>
                            <a:srgbClr val="1B2A41"/>
                          </a:solidFill>
                        </a:rPr>
                        <a:t>$50,000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EEF3FB"/>
                    </a:solidFill>
                  </a:tcPr>
                </a:tc>
                <a:tc>
                  <a:txBody>
                    <a:bodyPr/>
                    <a:lstStyle/>
                    <a:p>
                      <a:pPr algn="r" indent="0" marL="0">
                        <a:buNone/>
                      </a:pPr>
                      <a:r>
                        <a:rPr lang="en-US" sz="1400" dirty="0">
                          <a:solidFill>
                            <a:srgbClr val="1B2A41"/>
                          </a:solidFill>
                        </a:rPr>
                        <a:t>$5,000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EEF3FB"/>
                    </a:solidFill>
                  </a:tcPr>
                </a:tc>
                <a:tc>
                  <a:txBody>
                    <a:bodyPr/>
                    <a:lstStyle/>
                    <a:p>
                      <a:pPr algn="r" indent="0" marL="0">
                        <a:buNone/>
                      </a:pPr>
                      <a:r>
                        <a:rPr lang="en-US" sz="1400" dirty="0">
                          <a:solidFill>
                            <a:srgbClr val="1B2A41"/>
                          </a:solidFill>
                        </a:rPr>
                        <a:t>$55,000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EEF3FB"/>
                    </a:solidFill>
                  </a:tcPr>
                </a:tc>
                <a:tc>
                  <a:txBody>
                    <a:bodyPr/>
                    <a:lstStyle/>
                    <a:p>
                      <a:pPr algn="r" indent="0" marL="0">
                        <a:buNone/>
                      </a:pPr>
                      <a:r>
                        <a:rPr lang="en-US" sz="1400" b="1" dirty="0">
                          <a:solidFill>
                            <a:srgbClr val="1E3A8A"/>
                          </a:solidFill>
                        </a:rPr>
                        <a:t>$10,000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EEF3FB"/>
                    </a:solidFill>
                  </a:tcPr>
                </a:tc>
                <a:tc>
                  <a:txBody>
                    <a:bodyPr/>
                    <a:lstStyle/>
                    <a:p>
                      <a:pPr algn="r" indent="0" marL="0">
                        <a:buNone/>
                      </a:pPr>
                      <a:r>
                        <a:rPr lang="en-US" sz="1400" dirty="0">
                          <a:solidFill>
                            <a:srgbClr val="1B2A41"/>
                          </a:solidFill>
                        </a:rPr>
                        <a:t>$60,000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EEF3FB"/>
                    </a:solidFill>
                  </a:tcPr>
                </a:tc>
              </a:tr>
              <a:tr h="411480">
                <a:tc>
                  <a:txBody>
                    <a:bodyPr/>
                    <a:lstStyle/>
                    <a:p>
                      <a:pPr algn="l" indent="0" marL="0">
                        <a:buNone/>
                      </a:pPr>
                      <a:r>
                        <a:rPr lang="en-US" sz="1400" b="1" dirty="0">
                          <a:solidFill>
                            <a:srgbClr val="1B2A41"/>
                          </a:solidFill>
                        </a:rPr>
                        <a:t>$100,000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41"/>
                          </a:solidFill>
                        </a:rPr>
                        <a:t>$10,000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41"/>
                          </a:solidFill>
                        </a:rPr>
                        <a:t>$110,000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E3A8A"/>
                          </a:solidFill>
                        </a:rPr>
                        <a:t>$20,000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41"/>
                          </a:solidFill>
                        </a:rPr>
                        <a:t>$120,000</a:t>
                      </a:r>
                      <a:endParaRPr lang="en-US" sz="1400" dirty="0"/>
                    </a:p>
                  </a:txBody>
                  <a:tcPr marL="73152" marR="73152" marT="27432" marB="27432" anchor="ctr">
                    <a:lnL w="9525" cap="flat" cmpd="sng" algn="ctr">
                      <a:solidFill>
                        <a:srgbClr val="C7D3E8"/>
                      </a:solidFill>
                      <a:prstDash val="solid"/>
                      <a:round/>
                      <a:headEnd type="none" w="med" len="med"/>
                      <a:tailEnd type="none" w="med" len="med"/>
                    </a:lnL>
                    <a:lnR w="9525" cap="flat" cmpd="sng" algn="ctr">
                      <a:solidFill>
                        <a:srgbClr val="C7D3E8"/>
                      </a:solidFill>
                      <a:prstDash val="solid"/>
                      <a:round/>
                      <a:headEnd type="none" w="med" len="med"/>
                      <a:tailEnd type="none" w="med" len="med"/>
                    </a:lnR>
                    <a:lnT w="9525" cap="flat" cmpd="sng" algn="ctr">
                      <a:solidFill>
                        <a:srgbClr val="C7D3E8"/>
                      </a:solidFill>
                      <a:prstDash val="solid"/>
                      <a:round/>
                      <a:headEnd type="none" w="med" len="med"/>
                      <a:tailEnd type="none" w="med" len="med"/>
                    </a:lnT>
                    <a:lnB w="9525" cap="flat" cmpd="sng" algn="ctr">
                      <a:solidFill>
                        <a:srgbClr val="C7D3E8"/>
                      </a:solidFill>
                      <a:prstDash val="solid"/>
                      <a:round/>
                      <a:headEnd type="none" w="med" len="med"/>
                      <a:tailEnd type="none" w="med" len="med"/>
                    </a:lnB>
                    <a:solidFill>
                      <a:srgbClr val="FFFFFF"/>
                    </a:solidFill>
                  </a:tcPr>
                </a:tc>
              </a:tr>
            </a:tbl>
          </a:graphicData>
        </a:graphic>
      </p:graphicFrame>
      <p:sp>
        <p:nvSpPr>
          <p:cNvPr id="13" name="Yearly payouts callout box"/>
          <p:cNvSpPr/>
          <p:nvPr/>
        </p:nvSpPr>
        <p:spPr>
          <a:xfrm>
            <a:off x="3474720" y="3566160"/>
            <a:ext cx="5212080" cy="777240"/>
          </a:xfrm>
          <a:prstGeom prst="roundRect">
            <a:avLst>
              <a:gd name="adj" fmla="val 11765"/>
            </a:avLst>
          </a:prstGeom>
          <a:solidFill>
            <a:schemeClr val="bg2"/>
          </a:solidFill>
          <a:ln w="12700">
            <a:solidFill>
              <a:schemeClr val="bg2"/>
            </a:solidFill>
            <a:prstDash val="solid"/>
          </a:ln>
        </p:spPr>
      </p:sp>
      <p:sp>
        <p:nvSpPr>
          <p:cNvPr id="14" name="Text 11"/>
          <p:cNvSpPr txBox="1"/>
          <p:nvPr/>
        </p:nvSpPr>
        <p:spPr>
          <a:xfrm>
            <a:off x="3657600" y="3584448"/>
            <a:ext cx="4846320" cy="731520"/>
          </a:xfrm>
          <a:prstGeom prst="rect">
            <a:avLst/>
          </a:prstGeom>
          <a:noFill/>
          <a:ln/>
        </p:spPr>
        <p:txBody>
          <a:bodyPr wrap="square" lIns="0" tIns="0" rIns="0" bIns="0" rtlCol="0" anchor="ctr"/>
          <a:lstStyle/>
          <a:p>
            <a:pPr indent="0" marL="0">
              <a:buNone/>
            </a:pPr>
            <a:r>
              <a:rPr lang="en-US" sz="1400" b="1" dirty="0">
                <a:solidFill>
                  <a:schemeClr val="accent1"/>
                </a:solidFill>
              </a:rPr>
              <a:t>Example: </a:t>
            </a:r>
            <a:pPr indent="0" marL="0">
              <a:buNone/>
            </a:pPr>
            <a:r>
              <a:rPr lang="en-US" sz="1400" dirty="0">
                <a:solidFill>
                  <a:schemeClr val="tx1"/>
                </a:solidFill>
              </a:rPr>
              <a:t>$100,000 for 2 years earns </a:t>
            </a:r>
            <a:pPr indent="0" marL="0">
              <a:buNone/>
            </a:pPr>
            <a:r>
              <a:rPr lang="en-US" sz="1400" b="1" dirty="0">
                <a:solidFill>
                  <a:schemeClr val="tx1"/>
                </a:solidFill>
              </a:rPr>
              <a:t>$20,000 in earnings</a:t>
            </a:r>
            <a:pPr indent="0" marL="0">
              <a:buNone/>
            </a:pPr>
            <a:r>
              <a:rPr lang="en-US" sz="1400" dirty="0">
                <a:solidFill>
                  <a:schemeClr val="tx1"/>
                </a:solidFill>
              </a:rPr>
              <a:t> (2 payouts of $10,000), plus your $100,000 back at the end.</a:t>
            </a:r>
            <a:endParaRPr lang="en-US" sz="1400" dirty="0"/>
          </a:p>
        </p:txBody>
      </p:sp>
      <p:sp>
        <p:nvSpPr>
          <p:cNvPr id="15" name="Text 12"/>
          <p:cNvSpPr txBox="1"/>
          <p:nvPr/>
        </p:nvSpPr>
        <p:spPr>
          <a:xfrm>
            <a:off x="457200" y="4462272"/>
            <a:ext cx="8229600" cy="201168"/>
          </a:xfrm>
          <a:prstGeom prst="rect">
            <a:avLst/>
          </a:prstGeom>
          <a:noFill/>
          <a:ln/>
        </p:spPr>
        <p:txBody>
          <a:bodyPr wrap="square" lIns="0" tIns="0" rIns="0" bIns="0" rtlCol="0" anchor="ctr"/>
          <a:lstStyle/>
          <a:p>
            <a:pPr indent="0" marL="0">
              <a:buNone/>
            </a:pPr>
            <a:r>
              <a:rPr lang="en-US" sz="1000" i="1" dirty="0">
                <a:solidFill>
                  <a:schemeClr val="accent4"/>
                </a:solidFill>
              </a:rPr>
              <a:t>Earnings Only payouts shown. Illustrative figures; see the disclaimer at the end.</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046720" cy="731520"/>
          </a:xfrm>
          <a:prstGeom prst="rect">
            <a:avLst/>
          </a:prstGeom>
          <a:noFill/>
          <a:ln/>
        </p:spPr>
        <p:txBody>
          <a:bodyPr wrap="square" lIns="0" tIns="0" rIns="0" bIns="0" rtlCol="0" anchor="ctr"/>
          <a:lstStyle/>
          <a:p>
            <a:pPr algn="l" indent="0" marL="0">
              <a:buNone/>
            </a:pPr>
            <a:r>
              <a:rPr lang="en-US" sz="3600" b="1" dirty="0">
                <a:solidFill>
                  <a:schemeClr val="bg1"/>
                </a:solidFill>
              </a:rPr>
              <a:t>See your own plan in a minute</a:t>
            </a:r>
            <a:endParaRPr lang="en-US" sz="3600" dirty="0"/>
          </a:p>
        </p:txBody>
      </p:sp>
      <p:sp>
        <p:nvSpPr>
          <p:cNvPr id="3" name="Text 1"/>
          <p:cNvSpPr txBox="1"/>
          <p:nvPr/>
        </p:nvSpPr>
        <p:spPr>
          <a:xfrm>
            <a:off x="548640" y="1234440"/>
            <a:ext cx="5120640" cy="685800"/>
          </a:xfrm>
          <a:prstGeom prst="rect">
            <a:avLst/>
          </a:prstGeom>
          <a:noFill/>
          <a:ln/>
        </p:spPr>
        <p:txBody>
          <a:bodyPr wrap="square" lIns="0" tIns="0" rIns="0" bIns="0" rtlCol="0" anchor="t"/>
          <a:lstStyle/>
          <a:p>
            <a:pPr indent="0" marL="0">
              <a:buNone/>
            </a:pPr>
            <a:r>
              <a:rPr lang="en-US" sz="1600" dirty="0">
                <a:solidFill>
                  <a:schemeClr val="bg2"/>
                </a:solidFill>
              </a:rPr>
              <a:t>Use our calculator to see your exact payouts, then send an inquiry. Our team will contact you.</a:t>
            </a:r>
            <a:endParaRPr lang="en-US" sz="1600" dirty="0"/>
          </a:p>
        </p:txBody>
      </p:sp>
      <p:sp>
        <p:nvSpPr>
          <p:cNvPr id="4" name="Text 2"/>
          <p:cNvSpPr txBox="1"/>
          <p:nvPr/>
        </p:nvSpPr>
        <p:spPr>
          <a:xfrm>
            <a:off x="548640" y="2057400"/>
            <a:ext cx="5120640" cy="274320"/>
          </a:xfrm>
          <a:prstGeom prst="rect">
            <a:avLst/>
          </a:prstGeom>
          <a:noFill/>
          <a:ln/>
        </p:spPr>
        <p:txBody>
          <a:bodyPr wrap="square" lIns="0" tIns="0" rIns="0" bIns="0" rtlCol="0" anchor="ctr"/>
          <a:lstStyle/>
          <a:p>
            <a:pPr indent="0" marL="0">
              <a:buNone/>
            </a:pPr>
            <a:r>
              <a:rPr lang="en-US" sz="1400" dirty="0">
                <a:solidFill>
                  <a:schemeClr val="bg2"/>
                </a:solidFill>
              </a:rPr>
              <a:t>Visit</a:t>
            </a:r>
            <a:endParaRPr lang="en-US" sz="1400" dirty="0"/>
          </a:p>
        </p:txBody>
      </p:sp>
      <p:sp>
        <p:nvSpPr>
          <p:cNvPr id="5" name="Inquiry URL">
            <a:hlinkClick r:id="rId1" tooltip="Open the calculator and send an inquiry"/>
          </p:cNvPr>
          <p:cNvSpPr txBox="1"/>
          <p:nvPr/>
        </p:nvSpPr>
        <p:spPr>
          <a:xfrm>
            <a:off x="548640" y="2331720"/>
            <a:ext cx="5394960" cy="457200"/>
          </a:xfrm>
          <a:prstGeom prst="rect">
            <a:avLst/>
          </a:prstGeom>
          <a:noFill/>
          <a:ln/>
        </p:spPr>
        <p:txBody>
          <a:bodyPr wrap="square" lIns="0" tIns="0" rIns="0" bIns="0" rtlCol="0" anchor="ctr"/>
          <a:lstStyle/>
          <a:p>
            <a:pPr indent="0" marL="0">
              <a:buNone/>
            </a:pPr>
            <a:r>
              <a:rPr lang="en-US" sz="2000" b="1" u="sng" dirty="0">
                <a:solidFill>
                  <a:schemeClr val="accent2"/>
                </a:solidFill>
                <a:hlinkClick r:id="rId1" invalidUrl="" action="" tgtFrame="" tooltip="Open the calculator and send an inquiry" history="1" highlightClick="0" endSnd="0">
                  <a:extLst>
                    <a:ext uri="{A12FA001-AC4F-418D-AE19-62706E023703}">
                      <ahyp:hlinkClr xmlns:ahyp="http://schemas.microsoft.com/office/drawing/2018/hyperlinkcolor" val="tx"/>
                    </a:ext>
                  </a:extLst>
                </a:hlinkClick>
              </a:rPr>
              <a:t>payout-calculator-steel.vercel.app/inquiries</a:t>
            </a:r>
            <a:endParaRPr lang="en-US" sz="2000" dirty="0"/>
          </a:p>
        </p:txBody>
      </p:sp>
      <p:sp>
        <p:nvSpPr>
          <p:cNvPr id="6" name="Text 4"/>
          <p:cNvSpPr txBox="1"/>
          <p:nvPr/>
        </p:nvSpPr>
        <p:spPr>
          <a:xfrm>
            <a:off x="548640" y="2834640"/>
            <a:ext cx="5120640" cy="274320"/>
          </a:xfrm>
          <a:prstGeom prst="rect">
            <a:avLst/>
          </a:prstGeom>
          <a:noFill/>
          <a:ln/>
        </p:spPr>
        <p:txBody>
          <a:bodyPr wrap="square" lIns="0" tIns="0" rIns="0" bIns="0" rtlCol="0" anchor="ctr"/>
          <a:lstStyle/>
          <a:p>
            <a:pPr indent="0" marL="0">
              <a:buNone/>
            </a:pPr>
            <a:r>
              <a:rPr lang="en-US" sz="1400" dirty="0">
                <a:solidFill>
                  <a:schemeClr val="bg2"/>
                </a:solidFill>
              </a:rPr>
              <a:t>or scan the code with your phone camera</a:t>
            </a:r>
            <a:endParaRPr lang="en-US" sz="1400" dirty="0"/>
          </a:p>
        </p:txBody>
      </p:sp>
      <p:sp>
        <p:nvSpPr>
          <p:cNvPr id="7" name="QR code frame"/>
          <p:cNvSpPr/>
          <p:nvPr/>
        </p:nvSpPr>
        <p:spPr>
          <a:xfrm>
            <a:off x="6263640" y="1188720"/>
            <a:ext cx="2331720" cy="2331720"/>
          </a:xfrm>
          <a:prstGeom prst="roundRect">
            <a:avLst>
              <a:gd name="adj" fmla="val 3922"/>
            </a:avLst>
          </a:prstGeom>
          <a:solidFill>
            <a:schemeClr val="bg1"/>
          </a:solidFill>
          <a:ln w="12700">
            <a:solidFill>
              <a:schemeClr val="bg1"/>
            </a:solidFill>
            <a:prstDash val="solid"/>
          </a:ln>
        </p:spPr>
      </p:sp>
      <p:pic>
        <p:nvPicPr>
          <p:cNvPr id="8" name="Inquiry QR code" descr="QR code linking to https://payout-calculator-steel.vercel.app/inquiries">    </p:cNvPr>
          <p:cNvPicPr>
            <a:picLocks noChangeAspect="1"/>
          </p:cNvPicPr>
          <p:nvPr/>
        </p:nvPicPr>
        <p:blipFill>
          <a:blip r:embed="rId2"/>
          <a:stretch>
            <a:fillRect/>
          </a:stretch>
        </p:blipFill>
        <p:spPr>
          <a:xfrm>
            <a:off x="6400800" y="1325880"/>
            <a:ext cx="2057400" cy="2057400"/>
          </a:xfrm>
          <a:prstGeom prst="rect">
            <a:avLst/>
          </a:prstGeom>
        </p:spPr>
      </p:pic>
      <p:sp>
        <p:nvSpPr>
          <p:cNvPr id="9" name="Disclaimer"/>
          <p:cNvSpPr txBox="1"/>
          <p:nvPr/>
        </p:nvSpPr>
        <p:spPr>
          <a:xfrm>
            <a:off x="548640" y="3794760"/>
            <a:ext cx="8046720" cy="960120"/>
          </a:xfrm>
          <a:prstGeom prst="rect">
            <a:avLst/>
          </a:prstGeom>
          <a:noFill/>
          <a:ln/>
        </p:spPr>
        <p:txBody>
          <a:bodyPr wrap="square" lIns="0" tIns="0" rIns="0" bIns="0" rtlCol="0" anchor="t"/>
          <a:lstStyle/>
          <a:p>
            <a:pPr indent="0" marL="0">
              <a:buNone/>
            </a:pPr>
            <a:r>
              <a:rPr lang="en-US" sz="1000" dirty="0">
                <a:solidFill>
                  <a:schemeClr val="bg2"/>
                </a:solidFill>
              </a:rPr>
              <a:t>Disclaimer: This calculator provides illustrative estimates based on the selected assumptions. Earnings are assumed to start on the next business day after the planned investment date, counting Monday to Friday as business days; public holidays are not taken into account. Actual returns, payment timing, taxes, fees, and principal repayment may differ. This calculator is not a guarantee of investment performance or a substitute for professional financial advice.</a:t>
            </a:r>
            <a:endParaRPr lang="en-US" sz="1000" dirty="0"/>
          </a:p>
        </p:txBody>
      </p:sp>
    </p:spTree>
  </p:cSld>
  <p:clrMapOvr>
    <a:masterClrMapping/>
  </p:clrMapOvr>
</p:sld>
</file>

<file path=ppt/theme/theme1.xml><?xml version="1.0" encoding="utf-8"?>
<a:theme xmlns:a="http://schemas.openxmlformats.org/drawingml/2006/main" name="Payout Plans">
  <a:themeElements>
    <a:clrScheme name="Payout Plans">
      <a:dk1>
        <a:srgbClr val="1B2A41"/>
      </a:dk1>
      <a:lt1>
        <a:srgbClr val="FFFFFF"/>
      </a:lt1>
      <a:dk2>
        <a:srgbClr val="16285A"/>
      </a:dk2>
      <a:lt2>
        <a:srgbClr val="EEF3FB"/>
      </a:lt2>
      <a:accent1>
        <a:srgbClr val="1E3A8A"/>
      </a:accent1>
      <a:accent2>
        <a:srgbClr val="C9A227"/>
      </a:accent2>
      <a:accent3>
        <a:srgbClr val="0E7490"/>
      </a:accent3>
      <a:accent4>
        <a:srgbClr val="64748B"/>
      </a:accent4>
      <a:accent5>
        <a:srgbClr val="DCE6F5"/>
      </a:accent5>
      <a:accent6>
        <a:srgbClr val="15803D"/>
      </a:accent6>
      <a:hlink>
        <a:srgbClr val="1E3A8A"/>
      </a:hlink>
      <a:folHlink>
        <a:srgbClr val="5B21B6"/>
      </a:folHlink>
    </a:clrScheme>
    <a:fontScheme name="Payout Plan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Investment Payout Calculator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Fixed-Term Investment Plans</dc:title>
  <dc:subject>Quarterly, half-yearly and yearly payout plans</dc:subject>
  <dc:creator>Investment Payout Calculator</dc:creator>
  <cp:lastModifiedBy>Investment Payout Calculator</cp:lastModifiedBy>
  <cp:revision>1</cp:revision>
  <dcterms:created xsi:type="dcterms:W3CDTF">2026-10-31T19:23:16Z</dcterms:created>
  <dcterms:modified xsi:type="dcterms:W3CDTF">2026-10-31T19:23:16Z</dcterms:modified>
</cp:coreProperties>
</file>